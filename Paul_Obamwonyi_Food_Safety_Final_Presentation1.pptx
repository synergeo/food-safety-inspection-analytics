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882"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278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0:00–0:20 — Good morning. My final project is Food Safety Inspection Analytics and Failure-Risk Prediction using German BVL 2023 food-monitoring data. The goal is to move from a very large monitoring dataset to practical risk prioritization.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0:20–1:00 — Monitoring generates many results, but adverse findings are rare. I asked three questions: where risk is concentrated, which monitoring characteristics are associated with adverse status, and whether pre-outcome characteristics can help prioritize samples.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1:00–1:50 — The raw file contained about 2.15 million analytical-result rows from 9,711 original samples. After restricting the scope to food and aggregating to physical samples, I had 8,582 samples, with 71 adverse. I excluded identifiers and post-outcome laboratory fields to prevent leakage.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1:50–2:30 — Only 0.83 percent of samples were adverse. A model predicting every sample as non-adverse would look 99.17 percent accurate while finding zero adverse cases. So I prioritized recall, PR-AUC and F1, with ROC-AUC as a secondary metric.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2:30–3:25 — Spices had the highest product-group rate at 3.67 percent versus the 0.83 percent benchmark. Legumes, oilseeds and nuts were 1.63 percent, meat 1.43 percent and fresh fruit 0.99 percent. At specific-product level, frozen sour cherries were 12.5 percent, but that is 4 adverse cases out of only 32, so sample-size context matters.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3:25–4:10 — Product Group was significantly associated with adverse status, with chi-square about 66.32 and p below 0.001. However, 39.47 percent of expected cells were below five, so I interpret this cautiously. In the Random Forest, Specific Product and Product Group contributed most to predictive importance. These are predictive signals, not causal effects.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4:10–5:05 — I compared Logistic Regression, Decision Tree, Random Forest and XGBoost using one-hot encoding, stratified five-fold cross-validation and imbalance handling. SMOTE did not improve the project enough, so class weighting was more reliable. After tuning, Random Forest had the strongest cross-validated PR-AUC at 10.32 percent.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5:05–6:20 — On the untouched test set there were 1,717 samples and only 14 adverse cases. At threshold 0.40, the model captured 9 of 14, giving 64.3 percent recall, while flagging 302 samples, or 17.6 percent. PR-AUC was 15.6 percent and ROC-AUC 82.1 percent. Precision was only 2.98 percent, so this is a prioritization tool, not an automatic regulatory classifier.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6:20–7:30 — This is the dashboard story I will demonstrate live in Tableau. It starts with the three monitoring KPIs, then shows product-group and specific-product risk, the monthly risk trend, and the machine-learning screening result. The 0.83 percent line is the dataset-wide benchmark, not a legal safety threshold. I will click the live Tableau demo only if time permits.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7:30–8:40 — The recommended use is prioritization of additional inspection or laboratory attention, not automated regulatory action. Strengths include the large dataset, clear sample-level target, multiple models, cross-validation and a holdout test. Limitations include one year of data, only 71 adverse samples overall, sparse categories, low precision and no external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8:40–9:30 — In conclusion, adverse findings were not uniformly distributed. Pre-outcome sample characteristics contained useful predictive signal. The final model captured 64.3 percent of observed adverse test cases while flagging 17.6 percent of test samples. The practical message is to prioritize smarter without replacing laboratory testing or regulatory judgement. Thank you for your time. I am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17-Sep-26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17-Sep-26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17-Sep-26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17-Sep-26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17-Sep-26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17-Sep-26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17-Sep-26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17-Sep-26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17-Sep-26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17-Sep-26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17-Sep-26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public.tableau.com/app/profile/paul.omogiate.obamwonyi/viz/Book1_17896449518250/Dashboard1?publish=yes"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182F3D"/>
          </a:solidFill>
          <a:ln>
            <a:solidFill>
              <a:srgbClr val="182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0080"/>
            <a:ext cx="2560320" cy="274320"/>
          </a:xfrm>
          <a:prstGeom prst="rect">
            <a:avLst/>
          </a:prstGeom>
          <a:noFill/>
        </p:spPr>
        <p:txBody>
          <a:bodyPr wrap="square" lIns="18288" tIns="9144" rIns="18288" bIns="9144">
            <a:spAutoFit/>
          </a:bodyPr>
          <a:lstStyle/>
          <a:p>
            <a:pPr algn="l">
              <a:defRPr sz="900" b="1">
                <a:solidFill>
                  <a:srgbClr val="BED3C6"/>
                </a:solidFill>
                <a:latin typeface="Aptos"/>
              </a:defRPr>
            </a:pPr>
            <a:r>
              <a:t>IRONHACK · FINAL PROJECT</a:t>
            </a:r>
          </a:p>
        </p:txBody>
      </p:sp>
      <p:sp>
        <p:nvSpPr>
          <p:cNvPr id="5" name="TextBox 4"/>
          <p:cNvSpPr txBox="1"/>
          <p:nvPr/>
        </p:nvSpPr>
        <p:spPr>
          <a:xfrm>
            <a:off x="640080" y="1234440"/>
            <a:ext cx="2560320" cy="1828800"/>
          </a:xfrm>
          <a:prstGeom prst="rect">
            <a:avLst/>
          </a:prstGeom>
          <a:noFill/>
        </p:spPr>
        <p:txBody>
          <a:bodyPr wrap="square" lIns="18288" tIns="9144" rIns="18288" bIns="9144">
            <a:spAutoFit/>
          </a:bodyPr>
          <a:lstStyle/>
          <a:p>
            <a:pPr algn="l">
              <a:defRPr sz="3000" b="1">
                <a:solidFill>
                  <a:srgbClr val="FFFFFF"/>
                </a:solidFill>
                <a:latin typeface="Aptos"/>
              </a:defRPr>
            </a:pPr>
            <a:r>
              <a:rPr dirty="0"/>
              <a:t>Food Safety</a:t>
            </a:r>
            <a:br>
              <a:rPr dirty="0"/>
            </a:br>
            <a:r>
              <a:rPr dirty="0"/>
              <a:t>Inspection</a:t>
            </a:r>
            <a:br>
              <a:rPr dirty="0"/>
            </a:br>
            <a:r>
              <a:rPr dirty="0"/>
              <a:t>Analytics</a:t>
            </a:r>
          </a:p>
        </p:txBody>
      </p:sp>
      <p:sp>
        <p:nvSpPr>
          <p:cNvPr id="6" name="TextBox 5"/>
          <p:cNvSpPr txBox="1"/>
          <p:nvPr/>
        </p:nvSpPr>
        <p:spPr>
          <a:xfrm>
            <a:off x="640080" y="3337560"/>
            <a:ext cx="1828800" cy="418576"/>
          </a:xfrm>
          <a:prstGeom prst="rect">
            <a:avLst/>
          </a:prstGeom>
          <a:noFill/>
        </p:spPr>
        <p:txBody>
          <a:bodyPr wrap="square" lIns="18288" tIns="9144" rIns="18288" bIns="9144">
            <a:spAutoFit/>
          </a:bodyPr>
          <a:lstStyle/>
          <a:p>
            <a:pPr algn="l">
              <a:defRPr sz="2600" b="1">
                <a:solidFill>
                  <a:srgbClr val="BED3C6"/>
                </a:solidFill>
                <a:latin typeface="Aptos"/>
              </a:defRPr>
            </a:pPr>
            <a:endParaRPr dirty="0"/>
          </a:p>
        </p:txBody>
      </p:sp>
      <p:sp>
        <p:nvSpPr>
          <p:cNvPr id="7" name="TextBox 6"/>
          <p:cNvSpPr txBox="1"/>
          <p:nvPr/>
        </p:nvSpPr>
        <p:spPr>
          <a:xfrm>
            <a:off x="4251960" y="1143000"/>
            <a:ext cx="6766560" cy="664797"/>
          </a:xfrm>
          <a:prstGeom prst="rect">
            <a:avLst/>
          </a:prstGeom>
          <a:noFill/>
        </p:spPr>
        <p:txBody>
          <a:bodyPr wrap="square" lIns="18288" tIns="9144" rIns="18288" bIns="9144">
            <a:spAutoFit/>
          </a:bodyPr>
          <a:lstStyle/>
          <a:p>
            <a:pPr algn="l">
              <a:defRPr sz="2100" b="1">
                <a:solidFill>
                  <a:srgbClr val="182F3D"/>
                </a:solidFill>
                <a:latin typeface="Aptos"/>
              </a:defRPr>
            </a:pPr>
            <a:r>
              <a:rPr dirty="0"/>
              <a:t>Failure-Risk Prediction using</a:t>
            </a:r>
            <a:r>
              <a:rPr lang="en-US" dirty="0"/>
              <a:t> </a:t>
            </a:r>
            <a:r>
              <a:rPr dirty="0"/>
              <a:t>German BVL Food Monitoring Data</a:t>
            </a:r>
            <a:r>
              <a:rPr lang="en-US" dirty="0"/>
              <a:t>(2023)</a:t>
            </a:r>
            <a:endParaRPr dirty="0"/>
          </a:p>
        </p:txBody>
      </p:sp>
      <p:sp>
        <p:nvSpPr>
          <p:cNvPr id="8" name="Rounded Rectangle 7"/>
          <p:cNvSpPr/>
          <p:nvPr/>
        </p:nvSpPr>
        <p:spPr>
          <a:xfrm>
            <a:off x="4297680" y="2423160"/>
            <a:ext cx="1874519" cy="114300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07408" y="2542032"/>
            <a:ext cx="1655063" cy="365760"/>
          </a:xfrm>
          <a:prstGeom prst="rect">
            <a:avLst/>
          </a:prstGeom>
          <a:noFill/>
        </p:spPr>
        <p:txBody>
          <a:bodyPr wrap="square" lIns="18288" tIns="9144" rIns="18288" bIns="9144">
            <a:spAutoFit/>
          </a:bodyPr>
          <a:lstStyle/>
          <a:p>
            <a:pPr algn="ctr">
              <a:defRPr sz="2400" b="1">
                <a:solidFill>
                  <a:srgbClr val="386952"/>
                </a:solidFill>
                <a:latin typeface="Aptos"/>
              </a:defRPr>
            </a:pPr>
            <a:r>
              <a:t>8,582</a:t>
            </a:r>
          </a:p>
        </p:txBody>
      </p:sp>
      <p:sp>
        <p:nvSpPr>
          <p:cNvPr id="10" name="TextBox 9"/>
          <p:cNvSpPr txBox="1"/>
          <p:nvPr/>
        </p:nvSpPr>
        <p:spPr>
          <a:xfrm>
            <a:off x="4407408" y="2953512"/>
            <a:ext cx="1655063" cy="256032"/>
          </a:xfrm>
          <a:prstGeom prst="rect">
            <a:avLst/>
          </a:prstGeom>
          <a:noFill/>
        </p:spPr>
        <p:txBody>
          <a:bodyPr wrap="square" lIns="18288" tIns="9144" rIns="18288" bIns="9144">
            <a:spAutoFit/>
          </a:bodyPr>
          <a:lstStyle/>
          <a:p>
            <a:pPr algn="ctr">
              <a:defRPr sz="1000" b="1">
                <a:solidFill>
                  <a:srgbClr val="182F3D"/>
                </a:solidFill>
                <a:latin typeface="Aptos"/>
              </a:defRPr>
            </a:pPr>
            <a:r>
              <a:t>food samples</a:t>
            </a:r>
          </a:p>
        </p:txBody>
      </p:sp>
      <p:sp>
        <p:nvSpPr>
          <p:cNvPr id="11" name="Rounded Rectangle 10"/>
          <p:cNvSpPr/>
          <p:nvPr/>
        </p:nvSpPr>
        <p:spPr>
          <a:xfrm>
            <a:off x="6537960" y="2423160"/>
            <a:ext cx="1874519" cy="114300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47688" y="2542032"/>
            <a:ext cx="1655063" cy="365760"/>
          </a:xfrm>
          <a:prstGeom prst="rect">
            <a:avLst/>
          </a:prstGeom>
          <a:noFill/>
        </p:spPr>
        <p:txBody>
          <a:bodyPr wrap="square" lIns="18288" tIns="9144" rIns="18288" bIns="9144">
            <a:spAutoFit/>
          </a:bodyPr>
          <a:lstStyle/>
          <a:p>
            <a:pPr algn="ctr">
              <a:defRPr sz="2400" b="1">
                <a:solidFill>
                  <a:srgbClr val="B14E46"/>
                </a:solidFill>
                <a:latin typeface="Aptos"/>
              </a:defRPr>
            </a:pPr>
            <a:r>
              <a:t>71</a:t>
            </a:r>
          </a:p>
        </p:txBody>
      </p:sp>
      <p:sp>
        <p:nvSpPr>
          <p:cNvPr id="13" name="TextBox 12"/>
          <p:cNvSpPr txBox="1"/>
          <p:nvPr/>
        </p:nvSpPr>
        <p:spPr>
          <a:xfrm>
            <a:off x="6647688" y="2953512"/>
            <a:ext cx="1655063" cy="256032"/>
          </a:xfrm>
          <a:prstGeom prst="rect">
            <a:avLst/>
          </a:prstGeom>
          <a:noFill/>
        </p:spPr>
        <p:txBody>
          <a:bodyPr wrap="square" lIns="18288" tIns="9144" rIns="18288" bIns="9144">
            <a:spAutoFit/>
          </a:bodyPr>
          <a:lstStyle/>
          <a:p>
            <a:pPr algn="ctr">
              <a:defRPr sz="1000" b="1">
                <a:solidFill>
                  <a:srgbClr val="182F3D"/>
                </a:solidFill>
                <a:latin typeface="Aptos"/>
              </a:defRPr>
            </a:pPr>
            <a:r>
              <a:t>adverse</a:t>
            </a:r>
          </a:p>
        </p:txBody>
      </p:sp>
      <p:sp>
        <p:nvSpPr>
          <p:cNvPr id="14" name="Rounded Rectangle 13"/>
          <p:cNvSpPr/>
          <p:nvPr/>
        </p:nvSpPr>
        <p:spPr>
          <a:xfrm>
            <a:off x="8778240" y="2423160"/>
            <a:ext cx="1874519" cy="114300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87968" y="2542032"/>
            <a:ext cx="1655063" cy="365760"/>
          </a:xfrm>
          <a:prstGeom prst="rect">
            <a:avLst/>
          </a:prstGeom>
          <a:noFill/>
        </p:spPr>
        <p:txBody>
          <a:bodyPr wrap="square" lIns="18288" tIns="9144" rIns="18288" bIns="9144">
            <a:spAutoFit/>
          </a:bodyPr>
          <a:lstStyle/>
          <a:p>
            <a:pPr algn="ctr">
              <a:defRPr sz="2400" b="1">
                <a:solidFill>
                  <a:srgbClr val="466F91"/>
                </a:solidFill>
                <a:latin typeface="Aptos"/>
              </a:defRPr>
            </a:pPr>
            <a:r>
              <a:t>64.3%</a:t>
            </a:r>
          </a:p>
        </p:txBody>
      </p:sp>
      <p:sp>
        <p:nvSpPr>
          <p:cNvPr id="16" name="TextBox 15"/>
          <p:cNvSpPr txBox="1"/>
          <p:nvPr/>
        </p:nvSpPr>
        <p:spPr>
          <a:xfrm>
            <a:off x="8887968" y="2953512"/>
            <a:ext cx="1655063" cy="256032"/>
          </a:xfrm>
          <a:prstGeom prst="rect">
            <a:avLst/>
          </a:prstGeom>
          <a:noFill/>
        </p:spPr>
        <p:txBody>
          <a:bodyPr wrap="square" lIns="18288" tIns="9144" rIns="18288" bIns="9144">
            <a:spAutoFit/>
          </a:bodyPr>
          <a:lstStyle/>
          <a:p>
            <a:pPr algn="ctr">
              <a:defRPr sz="1000" b="1">
                <a:solidFill>
                  <a:srgbClr val="182F3D"/>
                </a:solidFill>
                <a:latin typeface="Aptos"/>
              </a:defRPr>
            </a:pPr>
            <a:r>
              <a:t>test recall</a:t>
            </a:r>
          </a:p>
        </p:txBody>
      </p:sp>
      <p:sp>
        <p:nvSpPr>
          <p:cNvPr id="17" name="TextBox 16"/>
          <p:cNvSpPr txBox="1"/>
          <p:nvPr/>
        </p:nvSpPr>
        <p:spPr>
          <a:xfrm>
            <a:off x="4297680" y="4160520"/>
            <a:ext cx="6400800" cy="365760"/>
          </a:xfrm>
          <a:prstGeom prst="rect">
            <a:avLst/>
          </a:prstGeom>
          <a:noFill/>
        </p:spPr>
        <p:txBody>
          <a:bodyPr wrap="square" lIns="18288" tIns="9144" rIns="18288" bIns="9144">
            <a:spAutoFit/>
          </a:bodyPr>
          <a:lstStyle/>
          <a:p>
            <a:pPr algn="l">
              <a:defRPr sz="1700" b="1">
                <a:solidFill>
                  <a:srgbClr val="386952"/>
                </a:solidFill>
                <a:latin typeface="Aptos"/>
              </a:defRPr>
            </a:pPr>
            <a:r>
              <a:t>From monitoring data to smarter inspection prioritization</a:t>
            </a:r>
          </a:p>
        </p:txBody>
      </p:sp>
      <p:sp>
        <p:nvSpPr>
          <p:cNvPr id="18" name="TextBox 17"/>
          <p:cNvSpPr txBox="1"/>
          <p:nvPr/>
        </p:nvSpPr>
        <p:spPr>
          <a:xfrm>
            <a:off x="4297680" y="5074920"/>
            <a:ext cx="3657600" cy="274320"/>
          </a:xfrm>
          <a:prstGeom prst="rect">
            <a:avLst/>
          </a:prstGeom>
          <a:noFill/>
        </p:spPr>
        <p:txBody>
          <a:bodyPr wrap="square" lIns="18288" tIns="9144" rIns="18288" bIns="9144">
            <a:spAutoFit/>
          </a:bodyPr>
          <a:lstStyle/>
          <a:p>
            <a:pPr algn="l">
              <a:defRPr sz="1300" b="1">
                <a:solidFill>
                  <a:srgbClr val="182F3D"/>
                </a:solidFill>
                <a:latin typeface="Aptos"/>
              </a:defRPr>
            </a:pPr>
            <a:r>
              <a:t>Paul Omogiate Obamwonyi</a:t>
            </a:r>
          </a:p>
        </p:txBody>
      </p:sp>
      <p:sp>
        <p:nvSpPr>
          <p:cNvPr id="19" name="TextBox 18"/>
          <p:cNvSpPr txBox="1"/>
          <p:nvPr/>
        </p:nvSpPr>
        <p:spPr>
          <a:xfrm>
            <a:off x="4297680" y="5422392"/>
            <a:ext cx="3840480" cy="256032"/>
          </a:xfrm>
          <a:prstGeom prst="rect">
            <a:avLst/>
          </a:prstGeom>
          <a:noFill/>
        </p:spPr>
        <p:txBody>
          <a:bodyPr wrap="square" lIns="18288" tIns="9144" rIns="18288" bIns="9144">
            <a:spAutoFit/>
          </a:bodyPr>
          <a:lstStyle/>
          <a:p>
            <a:pPr algn="l">
              <a:defRPr sz="1000" b="0">
                <a:solidFill>
                  <a:srgbClr val="656D71"/>
                </a:solidFill>
                <a:latin typeface="Aptos"/>
              </a:defRPr>
            </a:pPr>
            <a:r>
              <a:t>Data Analytics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01 · CONTEXT</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Business Problem &amp; Research Questions</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The challenge: adverse findings are rare, but missing them matters.</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02</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1508760"/>
            <a:ext cx="3840480" cy="429768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810512"/>
            <a:ext cx="2286000" cy="228600"/>
          </a:xfrm>
          <a:prstGeom prst="rect">
            <a:avLst/>
          </a:prstGeom>
          <a:noFill/>
        </p:spPr>
        <p:txBody>
          <a:bodyPr wrap="square" lIns="18288" tIns="9144" rIns="18288" bIns="9144">
            <a:spAutoFit/>
          </a:bodyPr>
          <a:lstStyle/>
          <a:p>
            <a:pPr algn="l">
              <a:defRPr sz="900" b="1">
                <a:solidFill>
                  <a:srgbClr val="386952"/>
                </a:solidFill>
                <a:latin typeface="Aptos"/>
              </a:defRPr>
            </a:pPr>
            <a:r>
              <a:t>THE DECISION PROBLEM</a:t>
            </a:r>
          </a:p>
        </p:txBody>
      </p:sp>
      <p:sp>
        <p:nvSpPr>
          <p:cNvPr id="10" name="TextBox 9"/>
          <p:cNvSpPr txBox="1"/>
          <p:nvPr/>
        </p:nvSpPr>
        <p:spPr>
          <a:xfrm>
            <a:off x="914400" y="2240280"/>
            <a:ext cx="3017520" cy="822960"/>
          </a:xfrm>
          <a:prstGeom prst="rect">
            <a:avLst/>
          </a:prstGeom>
          <a:noFill/>
        </p:spPr>
        <p:txBody>
          <a:bodyPr wrap="square" lIns="18288" tIns="9144" rIns="18288" bIns="9144">
            <a:spAutoFit/>
          </a:bodyPr>
          <a:lstStyle/>
          <a:p>
            <a:pPr algn="l">
              <a:defRPr sz="2500" b="1">
                <a:solidFill>
                  <a:srgbClr val="182F3D"/>
                </a:solidFill>
                <a:latin typeface="Aptos"/>
              </a:defRPr>
            </a:pPr>
            <a:r>
              <a:t>Where should inspection attention go first?</a:t>
            </a:r>
          </a:p>
        </p:txBody>
      </p:sp>
      <p:sp>
        <p:nvSpPr>
          <p:cNvPr id="11" name="TextBox 10"/>
          <p:cNvSpPr txBox="1"/>
          <p:nvPr/>
        </p:nvSpPr>
        <p:spPr>
          <a:xfrm>
            <a:off x="914400" y="3337560"/>
            <a:ext cx="2971800" cy="1188720"/>
          </a:xfrm>
          <a:prstGeom prst="rect">
            <a:avLst/>
          </a:prstGeom>
          <a:noFill/>
        </p:spPr>
        <p:txBody>
          <a:bodyPr wrap="square" lIns="18288" tIns="9144" rIns="18288" bIns="9144">
            <a:spAutoFit/>
          </a:bodyPr>
          <a:lstStyle/>
          <a:p>
            <a:pPr algn="l">
              <a:defRPr sz="1400" b="0">
                <a:solidFill>
                  <a:srgbClr val="282F32"/>
                </a:solidFill>
                <a:latin typeface="Aptos"/>
              </a:defRPr>
            </a:pPr>
            <a:r>
              <a:t>A risk-prioritization model can help focus limited inspection capacity — without replacing laboratory testing or regulatory judgement.</a:t>
            </a:r>
          </a:p>
        </p:txBody>
      </p:sp>
      <p:sp>
        <p:nvSpPr>
          <p:cNvPr id="12" name="TextBox 11"/>
          <p:cNvSpPr txBox="1"/>
          <p:nvPr/>
        </p:nvSpPr>
        <p:spPr>
          <a:xfrm>
            <a:off x="914400" y="4892040"/>
            <a:ext cx="1188720" cy="228600"/>
          </a:xfrm>
          <a:prstGeom prst="rect">
            <a:avLst/>
          </a:prstGeom>
          <a:noFill/>
        </p:spPr>
        <p:txBody>
          <a:bodyPr wrap="square" lIns="18288" tIns="9144" rIns="18288" bIns="9144">
            <a:spAutoFit/>
          </a:bodyPr>
          <a:lstStyle/>
          <a:p>
            <a:pPr algn="l">
              <a:defRPr sz="1000" b="1">
                <a:solidFill>
                  <a:srgbClr val="386952"/>
                </a:solidFill>
                <a:latin typeface="Aptos"/>
              </a:defRPr>
            </a:pPr>
            <a:r>
              <a:t>Project goal</a:t>
            </a:r>
          </a:p>
        </p:txBody>
      </p:sp>
      <p:sp>
        <p:nvSpPr>
          <p:cNvPr id="13" name="TextBox 12"/>
          <p:cNvSpPr txBox="1"/>
          <p:nvPr/>
        </p:nvSpPr>
        <p:spPr>
          <a:xfrm>
            <a:off x="914400" y="5230368"/>
            <a:ext cx="2971800" cy="502920"/>
          </a:xfrm>
          <a:prstGeom prst="rect">
            <a:avLst/>
          </a:prstGeom>
          <a:noFill/>
        </p:spPr>
        <p:txBody>
          <a:bodyPr wrap="square" lIns="18288" tIns="9144" rIns="18288" bIns="9144">
            <a:spAutoFit/>
          </a:bodyPr>
          <a:lstStyle/>
          <a:p>
            <a:pPr algn="l">
              <a:defRPr sz="1300" b="1">
                <a:solidFill>
                  <a:srgbClr val="182F3D"/>
                </a:solidFill>
                <a:latin typeface="Aptos"/>
              </a:defRPr>
            </a:pPr>
            <a:r>
              <a:t>Identify higher-risk foods and support more targeted screening.</a:t>
            </a:r>
          </a:p>
        </p:txBody>
      </p:sp>
      <p:sp>
        <p:nvSpPr>
          <p:cNvPr id="14" name="Rounded Rectangle 13"/>
          <p:cNvSpPr/>
          <p:nvPr/>
        </p:nvSpPr>
        <p:spPr>
          <a:xfrm>
            <a:off x="4892040" y="1572768"/>
            <a:ext cx="6217920" cy="102412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38928" y="1737360"/>
            <a:ext cx="685800" cy="256032"/>
          </a:xfrm>
          <a:prstGeom prst="rect">
            <a:avLst/>
          </a:prstGeom>
          <a:noFill/>
        </p:spPr>
        <p:txBody>
          <a:bodyPr wrap="square" lIns="18288" tIns="9144" rIns="18288" bIns="9144">
            <a:spAutoFit/>
          </a:bodyPr>
          <a:lstStyle/>
          <a:p>
            <a:pPr algn="l">
              <a:defRPr sz="1100" b="1">
                <a:solidFill>
                  <a:srgbClr val="386952"/>
                </a:solidFill>
                <a:latin typeface="Aptos"/>
              </a:defRPr>
            </a:pPr>
            <a:r>
              <a:t>RQ1</a:t>
            </a:r>
          </a:p>
        </p:txBody>
      </p:sp>
      <p:sp>
        <p:nvSpPr>
          <p:cNvPr id="16" name="TextBox 15"/>
          <p:cNvSpPr txBox="1"/>
          <p:nvPr/>
        </p:nvSpPr>
        <p:spPr>
          <a:xfrm>
            <a:off x="5989320" y="1719072"/>
            <a:ext cx="4800600" cy="594360"/>
          </a:xfrm>
          <a:prstGeom prst="rect">
            <a:avLst/>
          </a:prstGeom>
          <a:noFill/>
        </p:spPr>
        <p:txBody>
          <a:bodyPr wrap="square" lIns="18288" tIns="9144" rIns="18288" bIns="9144">
            <a:spAutoFit/>
          </a:bodyPr>
          <a:lstStyle/>
          <a:p>
            <a:pPr algn="l">
              <a:defRPr sz="1400" b="1">
                <a:solidFill>
                  <a:srgbClr val="182F3D"/>
                </a:solidFill>
                <a:latin typeface="Aptos"/>
              </a:defRPr>
            </a:pPr>
            <a:r>
              <a:t>Where are adverse findings concentrated?</a:t>
            </a:r>
          </a:p>
        </p:txBody>
      </p:sp>
      <p:sp>
        <p:nvSpPr>
          <p:cNvPr id="17" name="Rounded Rectangle 16"/>
          <p:cNvSpPr/>
          <p:nvPr/>
        </p:nvSpPr>
        <p:spPr>
          <a:xfrm>
            <a:off x="4892040" y="2898648"/>
            <a:ext cx="6217920" cy="102412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38928" y="3063240"/>
            <a:ext cx="685800" cy="256032"/>
          </a:xfrm>
          <a:prstGeom prst="rect">
            <a:avLst/>
          </a:prstGeom>
          <a:noFill/>
        </p:spPr>
        <p:txBody>
          <a:bodyPr wrap="square" lIns="18288" tIns="9144" rIns="18288" bIns="9144">
            <a:spAutoFit/>
          </a:bodyPr>
          <a:lstStyle/>
          <a:p>
            <a:pPr algn="l">
              <a:defRPr sz="1100" b="1">
                <a:solidFill>
                  <a:srgbClr val="386952"/>
                </a:solidFill>
                <a:latin typeface="Aptos"/>
              </a:defRPr>
            </a:pPr>
            <a:r>
              <a:t>RQ2</a:t>
            </a:r>
          </a:p>
        </p:txBody>
      </p:sp>
      <p:sp>
        <p:nvSpPr>
          <p:cNvPr id="19" name="TextBox 18"/>
          <p:cNvSpPr txBox="1"/>
          <p:nvPr/>
        </p:nvSpPr>
        <p:spPr>
          <a:xfrm>
            <a:off x="5989320" y="3044952"/>
            <a:ext cx="4800600" cy="594360"/>
          </a:xfrm>
          <a:prstGeom prst="rect">
            <a:avLst/>
          </a:prstGeom>
          <a:noFill/>
        </p:spPr>
        <p:txBody>
          <a:bodyPr wrap="square" lIns="18288" tIns="9144" rIns="18288" bIns="9144">
            <a:spAutoFit/>
          </a:bodyPr>
          <a:lstStyle/>
          <a:p>
            <a:pPr algn="l">
              <a:defRPr sz="1400" b="1">
                <a:solidFill>
                  <a:srgbClr val="182F3D"/>
                </a:solidFill>
                <a:latin typeface="Aptos"/>
              </a:defRPr>
            </a:pPr>
            <a:r>
              <a:t>Which monitoring characteristics are associated with non-compliance?</a:t>
            </a:r>
          </a:p>
        </p:txBody>
      </p:sp>
      <p:sp>
        <p:nvSpPr>
          <p:cNvPr id="20" name="Rounded Rectangle 19"/>
          <p:cNvSpPr/>
          <p:nvPr/>
        </p:nvSpPr>
        <p:spPr>
          <a:xfrm>
            <a:off x="4892040" y="4224528"/>
            <a:ext cx="6217920" cy="102412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38928" y="4389120"/>
            <a:ext cx="685800" cy="256032"/>
          </a:xfrm>
          <a:prstGeom prst="rect">
            <a:avLst/>
          </a:prstGeom>
          <a:noFill/>
        </p:spPr>
        <p:txBody>
          <a:bodyPr wrap="square" lIns="18288" tIns="9144" rIns="18288" bIns="9144">
            <a:spAutoFit/>
          </a:bodyPr>
          <a:lstStyle/>
          <a:p>
            <a:pPr algn="l">
              <a:defRPr sz="1100" b="1">
                <a:solidFill>
                  <a:srgbClr val="386952"/>
                </a:solidFill>
                <a:latin typeface="Aptos"/>
              </a:defRPr>
            </a:pPr>
            <a:r>
              <a:t>RQ3</a:t>
            </a:r>
          </a:p>
        </p:txBody>
      </p:sp>
      <p:sp>
        <p:nvSpPr>
          <p:cNvPr id="22" name="TextBox 21"/>
          <p:cNvSpPr txBox="1"/>
          <p:nvPr/>
        </p:nvSpPr>
        <p:spPr>
          <a:xfrm>
            <a:off x="5989320" y="4370832"/>
            <a:ext cx="4800600" cy="594360"/>
          </a:xfrm>
          <a:prstGeom prst="rect">
            <a:avLst/>
          </a:prstGeom>
          <a:noFill/>
        </p:spPr>
        <p:txBody>
          <a:bodyPr wrap="square" lIns="18288" tIns="9144" rIns="18288" bIns="9144">
            <a:spAutoFit/>
          </a:bodyPr>
          <a:lstStyle/>
          <a:p>
            <a:pPr algn="l">
              <a:defRPr sz="1400" b="1">
                <a:solidFill>
                  <a:srgbClr val="182F3D"/>
                </a:solidFill>
                <a:latin typeface="Aptos"/>
              </a:defRPr>
            </a:pPr>
            <a:r>
              <a:t>Can pre-outcome characteristics predict elevated failure risk?</a:t>
            </a:r>
          </a:p>
        </p:txBody>
      </p:sp>
      <p:sp>
        <p:nvSpPr>
          <p:cNvPr id="23" name="TextBox 22"/>
          <p:cNvSpPr txBox="1"/>
          <p:nvPr/>
        </p:nvSpPr>
        <p:spPr>
          <a:xfrm>
            <a:off x="4956048" y="5687568"/>
            <a:ext cx="914400" cy="228600"/>
          </a:xfrm>
          <a:prstGeom prst="rect">
            <a:avLst/>
          </a:prstGeom>
          <a:noFill/>
        </p:spPr>
        <p:txBody>
          <a:bodyPr wrap="square" lIns="18288" tIns="9144" rIns="18288" bIns="9144">
            <a:spAutoFit/>
          </a:bodyPr>
          <a:lstStyle/>
          <a:p>
            <a:pPr algn="l">
              <a:defRPr sz="900" b="1">
                <a:solidFill>
                  <a:srgbClr val="656D71"/>
                </a:solidFill>
                <a:latin typeface="Aptos"/>
              </a:defRPr>
            </a:pPr>
            <a:r>
              <a:t>Storyline</a:t>
            </a:r>
          </a:p>
        </p:txBody>
      </p:sp>
      <p:sp>
        <p:nvSpPr>
          <p:cNvPr id="24" name="TextBox 23"/>
          <p:cNvSpPr txBox="1"/>
          <p:nvPr/>
        </p:nvSpPr>
        <p:spPr>
          <a:xfrm>
            <a:off x="5852160" y="5669280"/>
            <a:ext cx="5029200" cy="274320"/>
          </a:xfrm>
          <a:prstGeom prst="rect">
            <a:avLst/>
          </a:prstGeom>
          <a:noFill/>
        </p:spPr>
        <p:txBody>
          <a:bodyPr wrap="square" lIns="18288" tIns="9144" rIns="18288" bIns="9144">
            <a:spAutoFit/>
          </a:bodyPr>
          <a:lstStyle/>
          <a:p>
            <a:pPr algn="l">
              <a:defRPr sz="1000" b="1">
                <a:solidFill>
                  <a:srgbClr val="182F3D"/>
                </a:solidFill>
                <a:latin typeface="Aptos"/>
              </a:defRPr>
            </a:pPr>
            <a:r>
              <a:t>DATA  →  PATTERNS  →  PREDICTION  →  DECISION SUPPORT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02 · DATA</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Dataset &amp; Preparation</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A large analytical dataset was reduced to one modelling row per food sample.</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03</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417320"/>
            <a:ext cx="2423160" cy="111556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536192"/>
            <a:ext cx="2203704" cy="365760"/>
          </a:xfrm>
          <a:prstGeom prst="rect">
            <a:avLst/>
          </a:prstGeom>
          <a:noFill/>
        </p:spPr>
        <p:txBody>
          <a:bodyPr wrap="square" lIns="18288" tIns="9144" rIns="18288" bIns="9144">
            <a:spAutoFit/>
          </a:bodyPr>
          <a:lstStyle/>
          <a:p>
            <a:pPr algn="ctr">
              <a:defRPr sz="2400" b="1">
                <a:solidFill>
                  <a:srgbClr val="466F91"/>
                </a:solidFill>
                <a:latin typeface="Aptos"/>
              </a:defRPr>
            </a:pPr>
            <a:r>
              <a:t>2.15M</a:t>
            </a:r>
          </a:p>
        </p:txBody>
      </p:sp>
      <p:sp>
        <p:nvSpPr>
          <p:cNvPr id="10" name="TextBox 9"/>
          <p:cNvSpPr txBox="1"/>
          <p:nvPr/>
        </p:nvSpPr>
        <p:spPr>
          <a:xfrm>
            <a:off x="795528" y="194767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analytical-result rows</a:t>
            </a:r>
          </a:p>
        </p:txBody>
      </p:sp>
      <p:sp>
        <p:nvSpPr>
          <p:cNvPr id="11" name="Rounded Rectangle 10"/>
          <p:cNvSpPr/>
          <p:nvPr/>
        </p:nvSpPr>
        <p:spPr>
          <a:xfrm>
            <a:off x="3474720" y="1417320"/>
            <a:ext cx="2423160" cy="111556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4448" y="1536192"/>
            <a:ext cx="2203704" cy="365760"/>
          </a:xfrm>
          <a:prstGeom prst="rect">
            <a:avLst/>
          </a:prstGeom>
          <a:noFill/>
        </p:spPr>
        <p:txBody>
          <a:bodyPr wrap="square" lIns="18288" tIns="9144" rIns="18288" bIns="9144">
            <a:spAutoFit/>
          </a:bodyPr>
          <a:lstStyle/>
          <a:p>
            <a:pPr algn="ctr">
              <a:defRPr sz="2400" b="1">
                <a:solidFill>
                  <a:srgbClr val="658B74"/>
                </a:solidFill>
                <a:latin typeface="Aptos"/>
              </a:defRPr>
            </a:pPr>
            <a:r>
              <a:t>9,711</a:t>
            </a:r>
          </a:p>
        </p:txBody>
      </p:sp>
      <p:sp>
        <p:nvSpPr>
          <p:cNvPr id="13" name="TextBox 12"/>
          <p:cNvSpPr txBox="1"/>
          <p:nvPr/>
        </p:nvSpPr>
        <p:spPr>
          <a:xfrm>
            <a:off x="3584448" y="194767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original samples</a:t>
            </a:r>
          </a:p>
        </p:txBody>
      </p:sp>
      <p:sp>
        <p:nvSpPr>
          <p:cNvPr id="14" name="Rounded Rectangle 13"/>
          <p:cNvSpPr/>
          <p:nvPr/>
        </p:nvSpPr>
        <p:spPr>
          <a:xfrm>
            <a:off x="6263640" y="1417320"/>
            <a:ext cx="2423160" cy="111556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1536192"/>
            <a:ext cx="2203704" cy="365760"/>
          </a:xfrm>
          <a:prstGeom prst="rect">
            <a:avLst/>
          </a:prstGeom>
          <a:noFill/>
        </p:spPr>
        <p:txBody>
          <a:bodyPr wrap="square" lIns="18288" tIns="9144" rIns="18288" bIns="9144">
            <a:spAutoFit/>
          </a:bodyPr>
          <a:lstStyle/>
          <a:p>
            <a:pPr algn="ctr">
              <a:defRPr sz="2400" b="1">
                <a:solidFill>
                  <a:srgbClr val="386952"/>
                </a:solidFill>
                <a:latin typeface="Aptos"/>
              </a:defRPr>
            </a:pPr>
            <a:r>
              <a:t>8,582</a:t>
            </a:r>
          </a:p>
        </p:txBody>
      </p:sp>
      <p:sp>
        <p:nvSpPr>
          <p:cNvPr id="16" name="TextBox 15"/>
          <p:cNvSpPr txBox="1"/>
          <p:nvPr/>
        </p:nvSpPr>
        <p:spPr>
          <a:xfrm>
            <a:off x="6373368" y="194767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food samples</a:t>
            </a:r>
          </a:p>
        </p:txBody>
      </p:sp>
      <p:sp>
        <p:nvSpPr>
          <p:cNvPr id="17" name="Rounded Rectangle 16"/>
          <p:cNvSpPr/>
          <p:nvPr/>
        </p:nvSpPr>
        <p:spPr>
          <a:xfrm>
            <a:off x="9052559" y="1417320"/>
            <a:ext cx="2423160" cy="111556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62287" y="1536192"/>
            <a:ext cx="2203704" cy="365760"/>
          </a:xfrm>
          <a:prstGeom prst="rect">
            <a:avLst/>
          </a:prstGeom>
          <a:noFill/>
        </p:spPr>
        <p:txBody>
          <a:bodyPr wrap="square" lIns="18288" tIns="9144" rIns="18288" bIns="9144">
            <a:spAutoFit/>
          </a:bodyPr>
          <a:lstStyle/>
          <a:p>
            <a:pPr algn="ctr">
              <a:defRPr sz="2400" b="1">
                <a:solidFill>
                  <a:srgbClr val="B14E46"/>
                </a:solidFill>
                <a:latin typeface="Aptos"/>
              </a:defRPr>
            </a:pPr>
            <a:r>
              <a:t>71</a:t>
            </a:r>
          </a:p>
        </p:txBody>
      </p:sp>
      <p:sp>
        <p:nvSpPr>
          <p:cNvPr id="19" name="TextBox 18"/>
          <p:cNvSpPr txBox="1"/>
          <p:nvPr/>
        </p:nvSpPr>
        <p:spPr>
          <a:xfrm>
            <a:off x="9162287" y="194767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adverse samples</a:t>
            </a:r>
          </a:p>
        </p:txBody>
      </p:sp>
      <p:sp>
        <p:nvSpPr>
          <p:cNvPr id="20" name="TextBox 19"/>
          <p:cNvSpPr txBox="1"/>
          <p:nvPr/>
        </p:nvSpPr>
        <p:spPr>
          <a:xfrm>
            <a:off x="713232" y="2907792"/>
            <a:ext cx="2011680" cy="274320"/>
          </a:xfrm>
          <a:prstGeom prst="rect">
            <a:avLst/>
          </a:prstGeom>
          <a:noFill/>
        </p:spPr>
        <p:txBody>
          <a:bodyPr wrap="square" lIns="18288" tIns="9144" rIns="18288" bIns="9144">
            <a:spAutoFit/>
          </a:bodyPr>
          <a:lstStyle/>
          <a:p>
            <a:pPr algn="l">
              <a:defRPr sz="1400" b="1">
                <a:solidFill>
                  <a:srgbClr val="182F3D"/>
                </a:solidFill>
                <a:latin typeface="Aptos"/>
              </a:defRPr>
            </a:pPr>
            <a:r>
              <a:t>Preparation pipeline</a:t>
            </a:r>
          </a:p>
        </p:txBody>
      </p:sp>
      <p:sp>
        <p:nvSpPr>
          <p:cNvPr id="21" name="Rounded Rectangle 20"/>
          <p:cNvSpPr/>
          <p:nvPr/>
        </p:nvSpPr>
        <p:spPr>
          <a:xfrm>
            <a:off x="685800" y="3383280"/>
            <a:ext cx="2423160" cy="13258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566160"/>
            <a:ext cx="320040" cy="320040"/>
          </a:xfrm>
          <a:prstGeom prst="rect">
            <a:avLst/>
          </a:prstGeom>
          <a:noFill/>
        </p:spPr>
        <p:txBody>
          <a:bodyPr wrap="square" lIns="18288" tIns="9144" rIns="18288" bIns="9144">
            <a:spAutoFit/>
          </a:bodyPr>
          <a:lstStyle/>
          <a:p>
            <a:pPr algn="l">
              <a:defRPr sz="1500" b="1">
                <a:solidFill>
                  <a:srgbClr val="386952"/>
                </a:solidFill>
                <a:latin typeface="Aptos"/>
              </a:defRPr>
            </a:pPr>
            <a:r>
              <a:t>1</a:t>
            </a:r>
          </a:p>
        </p:txBody>
      </p:sp>
      <p:sp>
        <p:nvSpPr>
          <p:cNvPr id="23" name="TextBox 22"/>
          <p:cNvSpPr txBox="1"/>
          <p:nvPr/>
        </p:nvSpPr>
        <p:spPr>
          <a:xfrm>
            <a:off x="1234440" y="3538728"/>
            <a:ext cx="1645920" cy="274320"/>
          </a:xfrm>
          <a:prstGeom prst="rect">
            <a:avLst/>
          </a:prstGeom>
          <a:noFill/>
        </p:spPr>
        <p:txBody>
          <a:bodyPr wrap="square" lIns="18288" tIns="9144" rIns="18288" bIns="9144">
            <a:spAutoFit/>
          </a:bodyPr>
          <a:lstStyle/>
          <a:p>
            <a:pPr algn="l">
              <a:defRPr sz="1200" b="1">
                <a:solidFill>
                  <a:srgbClr val="182F3D"/>
                </a:solidFill>
                <a:latin typeface="Aptos"/>
              </a:defRPr>
            </a:pPr>
            <a:r>
              <a:t>Restrict scope</a:t>
            </a:r>
          </a:p>
        </p:txBody>
      </p:sp>
      <p:sp>
        <p:nvSpPr>
          <p:cNvPr id="24" name="TextBox 23"/>
          <p:cNvSpPr txBox="1"/>
          <p:nvPr/>
        </p:nvSpPr>
        <p:spPr>
          <a:xfrm>
            <a:off x="1234440" y="3913632"/>
            <a:ext cx="1600200" cy="438912"/>
          </a:xfrm>
          <a:prstGeom prst="rect">
            <a:avLst/>
          </a:prstGeom>
          <a:noFill/>
        </p:spPr>
        <p:txBody>
          <a:bodyPr wrap="square" lIns="18288" tIns="9144" rIns="18288" bIns="9144">
            <a:spAutoFit/>
          </a:bodyPr>
          <a:lstStyle/>
          <a:p>
            <a:pPr algn="l">
              <a:defRPr sz="1000" b="0">
                <a:solidFill>
                  <a:srgbClr val="656D71"/>
                </a:solidFill>
                <a:latin typeface="Aptos"/>
              </a:defRPr>
            </a:pPr>
            <a:r>
              <a:t>Food samples only</a:t>
            </a:r>
          </a:p>
        </p:txBody>
      </p:sp>
      <p:sp>
        <p:nvSpPr>
          <p:cNvPr id="25" name="Rounded Rectangle 24"/>
          <p:cNvSpPr/>
          <p:nvPr/>
        </p:nvSpPr>
        <p:spPr>
          <a:xfrm>
            <a:off x="3474720" y="3383280"/>
            <a:ext cx="2423160" cy="13258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11879" y="3566160"/>
            <a:ext cx="320040" cy="320040"/>
          </a:xfrm>
          <a:prstGeom prst="rect">
            <a:avLst/>
          </a:prstGeom>
          <a:noFill/>
        </p:spPr>
        <p:txBody>
          <a:bodyPr wrap="square" lIns="18288" tIns="9144" rIns="18288" bIns="9144">
            <a:spAutoFit/>
          </a:bodyPr>
          <a:lstStyle/>
          <a:p>
            <a:pPr algn="l">
              <a:defRPr sz="1500" b="1">
                <a:solidFill>
                  <a:srgbClr val="386952"/>
                </a:solidFill>
                <a:latin typeface="Aptos"/>
              </a:defRPr>
            </a:pPr>
            <a:r>
              <a:t>2</a:t>
            </a:r>
          </a:p>
        </p:txBody>
      </p:sp>
      <p:sp>
        <p:nvSpPr>
          <p:cNvPr id="27" name="TextBox 26"/>
          <p:cNvSpPr txBox="1"/>
          <p:nvPr/>
        </p:nvSpPr>
        <p:spPr>
          <a:xfrm>
            <a:off x="4023359" y="3538728"/>
            <a:ext cx="1645920" cy="274320"/>
          </a:xfrm>
          <a:prstGeom prst="rect">
            <a:avLst/>
          </a:prstGeom>
          <a:noFill/>
        </p:spPr>
        <p:txBody>
          <a:bodyPr wrap="square" lIns="18288" tIns="9144" rIns="18288" bIns="9144">
            <a:spAutoFit/>
          </a:bodyPr>
          <a:lstStyle/>
          <a:p>
            <a:pPr algn="l">
              <a:defRPr sz="1200" b="1">
                <a:solidFill>
                  <a:srgbClr val="182F3D"/>
                </a:solidFill>
                <a:latin typeface="Aptos"/>
              </a:defRPr>
            </a:pPr>
            <a:r>
              <a:t>Aggregate</a:t>
            </a:r>
          </a:p>
        </p:txBody>
      </p:sp>
      <p:sp>
        <p:nvSpPr>
          <p:cNvPr id="28" name="TextBox 27"/>
          <p:cNvSpPr txBox="1"/>
          <p:nvPr/>
        </p:nvSpPr>
        <p:spPr>
          <a:xfrm>
            <a:off x="4023359" y="3913632"/>
            <a:ext cx="1600200" cy="438912"/>
          </a:xfrm>
          <a:prstGeom prst="rect">
            <a:avLst/>
          </a:prstGeom>
          <a:noFill/>
        </p:spPr>
        <p:txBody>
          <a:bodyPr wrap="square" lIns="18288" tIns="9144" rIns="18288" bIns="9144">
            <a:spAutoFit/>
          </a:bodyPr>
          <a:lstStyle/>
          <a:p>
            <a:pPr algn="l">
              <a:defRPr sz="1000" b="0">
                <a:solidFill>
                  <a:srgbClr val="656D71"/>
                </a:solidFill>
                <a:latin typeface="Aptos"/>
              </a:defRPr>
            </a:pPr>
            <a:r>
              <a:t>Result rows → physical sample</a:t>
            </a:r>
          </a:p>
        </p:txBody>
      </p:sp>
      <p:sp>
        <p:nvSpPr>
          <p:cNvPr id="29" name="Rounded Rectangle 28"/>
          <p:cNvSpPr/>
          <p:nvPr/>
        </p:nvSpPr>
        <p:spPr>
          <a:xfrm>
            <a:off x="6263640" y="3383280"/>
            <a:ext cx="2423160" cy="13258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3566160"/>
            <a:ext cx="320040" cy="320040"/>
          </a:xfrm>
          <a:prstGeom prst="rect">
            <a:avLst/>
          </a:prstGeom>
          <a:noFill/>
        </p:spPr>
        <p:txBody>
          <a:bodyPr wrap="square" lIns="18288" tIns="9144" rIns="18288" bIns="9144">
            <a:spAutoFit/>
          </a:bodyPr>
          <a:lstStyle/>
          <a:p>
            <a:pPr algn="l">
              <a:defRPr sz="1500" b="1">
                <a:solidFill>
                  <a:srgbClr val="386952"/>
                </a:solidFill>
                <a:latin typeface="Aptos"/>
              </a:defRPr>
            </a:pPr>
            <a:r>
              <a:t>3</a:t>
            </a:r>
          </a:p>
        </p:txBody>
      </p:sp>
      <p:sp>
        <p:nvSpPr>
          <p:cNvPr id="31" name="TextBox 30"/>
          <p:cNvSpPr txBox="1"/>
          <p:nvPr/>
        </p:nvSpPr>
        <p:spPr>
          <a:xfrm>
            <a:off x="6812279" y="3538728"/>
            <a:ext cx="1645920" cy="274320"/>
          </a:xfrm>
          <a:prstGeom prst="rect">
            <a:avLst/>
          </a:prstGeom>
          <a:noFill/>
        </p:spPr>
        <p:txBody>
          <a:bodyPr wrap="square" lIns="18288" tIns="9144" rIns="18288" bIns="9144">
            <a:spAutoFit/>
          </a:bodyPr>
          <a:lstStyle/>
          <a:p>
            <a:pPr algn="l">
              <a:defRPr sz="1200" b="1">
                <a:solidFill>
                  <a:srgbClr val="182F3D"/>
                </a:solidFill>
                <a:latin typeface="Aptos"/>
              </a:defRPr>
            </a:pPr>
            <a:r>
              <a:t>Define target</a:t>
            </a:r>
          </a:p>
        </p:txBody>
      </p:sp>
      <p:sp>
        <p:nvSpPr>
          <p:cNvPr id="32" name="TextBox 31"/>
          <p:cNvSpPr txBox="1"/>
          <p:nvPr/>
        </p:nvSpPr>
        <p:spPr>
          <a:xfrm>
            <a:off x="6812279" y="3913632"/>
            <a:ext cx="1600200" cy="438912"/>
          </a:xfrm>
          <a:prstGeom prst="rect">
            <a:avLst/>
          </a:prstGeom>
          <a:noFill/>
        </p:spPr>
        <p:txBody>
          <a:bodyPr wrap="square" lIns="18288" tIns="9144" rIns="18288" bIns="9144">
            <a:spAutoFit/>
          </a:bodyPr>
          <a:lstStyle/>
          <a:p>
            <a:pPr algn="l">
              <a:defRPr sz="1000" b="0">
                <a:solidFill>
                  <a:srgbClr val="656D71"/>
                </a:solidFill>
                <a:latin typeface="Aptos"/>
              </a:defRPr>
            </a:pPr>
            <a:r>
              <a:t>Conservative adverse status</a:t>
            </a:r>
          </a:p>
        </p:txBody>
      </p:sp>
      <p:sp>
        <p:nvSpPr>
          <p:cNvPr id="33" name="Rounded Rectangle 32"/>
          <p:cNvSpPr/>
          <p:nvPr/>
        </p:nvSpPr>
        <p:spPr>
          <a:xfrm>
            <a:off x="9052559" y="3383280"/>
            <a:ext cx="2423160" cy="13258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89719" y="3566160"/>
            <a:ext cx="320040" cy="320040"/>
          </a:xfrm>
          <a:prstGeom prst="rect">
            <a:avLst/>
          </a:prstGeom>
          <a:noFill/>
        </p:spPr>
        <p:txBody>
          <a:bodyPr wrap="square" lIns="18288" tIns="9144" rIns="18288" bIns="9144">
            <a:spAutoFit/>
          </a:bodyPr>
          <a:lstStyle/>
          <a:p>
            <a:pPr algn="l">
              <a:defRPr sz="1500" b="1">
                <a:solidFill>
                  <a:srgbClr val="386952"/>
                </a:solidFill>
                <a:latin typeface="Aptos"/>
              </a:defRPr>
            </a:pPr>
            <a:r>
              <a:t>4</a:t>
            </a:r>
          </a:p>
        </p:txBody>
      </p:sp>
      <p:sp>
        <p:nvSpPr>
          <p:cNvPr id="35" name="TextBox 34"/>
          <p:cNvSpPr txBox="1"/>
          <p:nvPr/>
        </p:nvSpPr>
        <p:spPr>
          <a:xfrm>
            <a:off x="9601199" y="3538728"/>
            <a:ext cx="1645920" cy="274320"/>
          </a:xfrm>
          <a:prstGeom prst="rect">
            <a:avLst/>
          </a:prstGeom>
          <a:noFill/>
        </p:spPr>
        <p:txBody>
          <a:bodyPr wrap="square" lIns="18288" tIns="9144" rIns="18288" bIns="9144">
            <a:spAutoFit/>
          </a:bodyPr>
          <a:lstStyle/>
          <a:p>
            <a:pPr algn="l">
              <a:defRPr sz="1200" b="1">
                <a:solidFill>
                  <a:srgbClr val="182F3D"/>
                </a:solidFill>
                <a:latin typeface="Aptos"/>
              </a:defRPr>
            </a:pPr>
            <a:r>
              <a:t>Prevent leakage</a:t>
            </a:r>
          </a:p>
        </p:txBody>
      </p:sp>
      <p:sp>
        <p:nvSpPr>
          <p:cNvPr id="36" name="TextBox 35"/>
          <p:cNvSpPr txBox="1"/>
          <p:nvPr/>
        </p:nvSpPr>
        <p:spPr>
          <a:xfrm>
            <a:off x="9601199" y="3913632"/>
            <a:ext cx="1600200" cy="438912"/>
          </a:xfrm>
          <a:prstGeom prst="rect">
            <a:avLst/>
          </a:prstGeom>
          <a:noFill/>
        </p:spPr>
        <p:txBody>
          <a:bodyPr wrap="square" lIns="18288" tIns="9144" rIns="18288" bIns="9144">
            <a:spAutoFit/>
          </a:bodyPr>
          <a:lstStyle/>
          <a:p>
            <a:pPr algn="l">
              <a:defRPr sz="1000" b="0">
                <a:solidFill>
                  <a:srgbClr val="656D71"/>
                </a:solidFill>
                <a:latin typeface="Aptos"/>
              </a:defRPr>
            </a:pPr>
            <a:r>
              <a:t>Remove IDs &amp; post-outcome fields</a:t>
            </a:r>
          </a:p>
        </p:txBody>
      </p:sp>
      <p:sp>
        <p:nvSpPr>
          <p:cNvPr id="37" name="TextBox 36"/>
          <p:cNvSpPr txBox="1"/>
          <p:nvPr/>
        </p:nvSpPr>
        <p:spPr>
          <a:xfrm>
            <a:off x="731520" y="5257800"/>
            <a:ext cx="1280160" cy="228600"/>
          </a:xfrm>
          <a:prstGeom prst="rect">
            <a:avLst/>
          </a:prstGeom>
          <a:noFill/>
        </p:spPr>
        <p:txBody>
          <a:bodyPr wrap="square" lIns="18288" tIns="9144" rIns="18288" bIns="9144">
            <a:spAutoFit/>
          </a:bodyPr>
          <a:lstStyle/>
          <a:p>
            <a:pPr algn="l">
              <a:defRPr sz="900" b="1">
                <a:solidFill>
                  <a:srgbClr val="386952"/>
                </a:solidFill>
                <a:latin typeface="Aptos"/>
              </a:defRPr>
            </a:pPr>
            <a:r>
              <a:t>Target examples</a:t>
            </a:r>
          </a:p>
        </p:txBody>
      </p:sp>
      <p:sp>
        <p:nvSpPr>
          <p:cNvPr id="38" name="TextBox 37"/>
          <p:cNvSpPr txBox="1"/>
          <p:nvPr/>
        </p:nvSpPr>
        <p:spPr>
          <a:xfrm>
            <a:off x="1965960" y="5193792"/>
            <a:ext cx="8686800" cy="320040"/>
          </a:xfrm>
          <a:prstGeom prst="rect">
            <a:avLst/>
          </a:prstGeom>
          <a:noFill/>
        </p:spPr>
        <p:txBody>
          <a:bodyPr wrap="square">
            <a:spAutoFit/>
          </a:bodyPr>
          <a:lstStyle/>
          <a:p>
            <a:pPr algn="l"/>
            <a:r>
              <a:rPr sz="1100" b="1">
                <a:solidFill>
                  <a:srgbClr val="182F3D"/>
                </a:solidFill>
                <a:latin typeface="Aptos"/>
              </a:rPr>
              <a:t>Beanstandet </a:t>
            </a:r>
            <a:r>
              <a:rPr sz="1100" b="0">
                <a:solidFill>
                  <a:srgbClr val="656D71"/>
                </a:solidFill>
                <a:latin typeface="Aptos"/>
              </a:rPr>
              <a:t>(Non-compliant/Objected)   ·   </a:t>
            </a:r>
            <a:r>
              <a:rPr sz="1100" b="1">
                <a:solidFill>
                  <a:srgbClr val="182F3D"/>
                </a:solidFill>
                <a:latin typeface="Aptos"/>
              </a:rPr>
              <a:t>Standard nicht erfüllt </a:t>
            </a:r>
            <a:r>
              <a:rPr sz="1100" b="0">
                <a:solidFill>
                  <a:srgbClr val="656D71"/>
                </a:solidFill>
                <a:latin typeface="Aptos"/>
              </a:rPr>
              <a:t>(Standard not met)</a:t>
            </a:r>
          </a:p>
        </p:txBody>
      </p:sp>
      <p:sp>
        <p:nvSpPr>
          <p:cNvPr id="39" name="TextBox 38"/>
          <p:cNvSpPr txBox="1"/>
          <p:nvPr/>
        </p:nvSpPr>
        <p:spPr>
          <a:xfrm>
            <a:off x="731520" y="5806440"/>
            <a:ext cx="10607040" cy="347472"/>
          </a:xfrm>
          <a:prstGeom prst="rect">
            <a:avLst/>
          </a:prstGeom>
          <a:noFill/>
        </p:spPr>
        <p:txBody>
          <a:bodyPr wrap="square" lIns="18288" tIns="9144" rIns="18288" bIns="9144">
            <a:spAutoFit/>
          </a:bodyPr>
          <a:lstStyle/>
          <a:p>
            <a:pPr algn="l">
              <a:defRPr sz="1050" b="0">
                <a:solidFill>
                  <a:srgbClr val="282F32"/>
                </a:solidFill>
                <a:latin typeface="Aptos"/>
              </a:defRPr>
            </a:pPr>
            <a:r>
              <a:t>Key modelling fields: Product Group · Specific Product · Business Type · Country · Processing · Packaging · Sampling Month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03 · MODELLING CHALLENGE</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Class Imbalance &amp; Evaluation Strategy</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Why 99.17% accuracy could still mean detecting zero adverse samples.</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04</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7240" y="1417320"/>
            <a:ext cx="2880360" cy="123444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536192"/>
            <a:ext cx="2660904" cy="365760"/>
          </a:xfrm>
          <a:prstGeom prst="rect">
            <a:avLst/>
          </a:prstGeom>
          <a:noFill/>
        </p:spPr>
        <p:txBody>
          <a:bodyPr wrap="square" lIns="18288" tIns="9144" rIns="18288" bIns="9144">
            <a:spAutoFit/>
          </a:bodyPr>
          <a:lstStyle/>
          <a:p>
            <a:pPr algn="ctr">
              <a:defRPr sz="2400" b="1">
                <a:solidFill>
                  <a:srgbClr val="B14E46"/>
                </a:solidFill>
                <a:latin typeface="Aptos"/>
              </a:defRPr>
            </a:pPr>
            <a:r>
              <a:t>0.83%</a:t>
            </a:r>
          </a:p>
        </p:txBody>
      </p:sp>
      <p:sp>
        <p:nvSpPr>
          <p:cNvPr id="10" name="TextBox 9"/>
          <p:cNvSpPr txBox="1"/>
          <p:nvPr/>
        </p:nvSpPr>
        <p:spPr>
          <a:xfrm>
            <a:off x="886968" y="1947672"/>
            <a:ext cx="2660904" cy="256032"/>
          </a:xfrm>
          <a:prstGeom prst="rect">
            <a:avLst/>
          </a:prstGeom>
          <a:noFill/>
        </p:spPr>
        <p:txBody>
          <a:bodyPr wrap="square" lIns="18288" tIns="9144" rIns="18288" bIns="9144">
            <a:spAutoFit/>
          </a:bodyPr>
          <a:lstStyle/>
          <a:p>
            <a:pPr algn="ctr">
              <a:defRPr sz="1000" b="1">
                <a:solidFill>
                  <a:srgbClr val="182F3D"/>
                </a:solidFill>
                <a:latin typeface="Aptos"/>
              </a:defRPr>
            </a:pPr>
            <a:r>
              <a:t>adverse samples</a:t>
            </a:r>
          </a:p>
        </p:txBody>
      </p:sp>
      <p:sp>
        <p:nvSpPr>
          <p:cNvPr id="11" name="TextBox 10"/>
          <p:cNvSpPr txBox="1"/>
          <p:nvPr/>
        </p:nvSpPr>
        <p:spPr>
          <a:xfrm>
            <a:off x="886968" y="2249424"/>
            <a:ext cx="2660904" cy="228600"/>
          </a:xfrm>
          <a:prstGeom prst="rect">
            <a:avLst/>
          </a:prstGeom>
          <a:noFill/>
        </p:spPr>
        <p:txBody>
          <a:bodyPr wrap="square" lIns="18288" tIns="9144" rIns="18288" bIns="9144">
            <a:spAutoFit/>
          </a:bodyPr>
          <a:lstStyle/>
          <a:p>
            <a:pPr algn="ctr">
              <a:defRPr sz="850" b="0">
                <a:solidFill>
                  <a:srgbClr val="656D71"/>
                </a:solidFill>
                <a:latin typeface="Aptos"/>
              </a:defRPr>
            </a:pPr>
            <a:r>
              <a:t>71 of 8,582</a:t>
            </a:r>
          </a:p>
        </p:txBody>
      </p:sp>
      <p:sp>
        <p:nvSpPr>
          <p:cNvPr id="12" name="Rounded Rectangle 11"/>
          <p:cNvSpPr/>
          <p:nvPr/>
        </p:nvSpPr>
        <p:spPr>
          <a:xfrm>
            <a:off x="3977639" y="1417320"/>
            <a:ext cx="2880360" cy="123444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87368" y="1536192"/>
            <a:ext cx="2660904" cy="365760"/>
          </a:xfrm>
          <a:prstGeom prst="rect">
            <a:avLst/>
          </a:prstGeom>
          <a:noFill/>
        </p:spPr>
        <p:txBody>
          <a:bodyPr wrap="square" lIns="18288" tIns="9144" rIns="18288" bIns="9144">
            <a:spAutoFit/>
          </a:bodyPr>
          <a:lstStyle/>
          <a:p>
            <a:pPr algn="ctr">
              <a:defRPr sz="2400" b="1">
                <a:solidFill>
                  <a:srgbClr val="466F91"/>
                </a:solidFill>
                <a:latin typeface="Aptos"/>
              </a:defRPr>
            </a:pPr>
            <a:r>
              <a:t>99.17%</a:t>
            </a:r>
          </a:p>
        </p:txBody>
      </p:sp>
      <p:sp>
        <p:nvSpPr>
          <p:cNvPr id="14" name="TextBox 13"/>
          <p:cNvSpPr txBox="1"/>
          <p:nvPr/>
        </p:nvSpPr>
        <p:spPr>
          <a:xfrm>
            <a:off x="4087368" y="1947672"/>
            <a:ext cx="2660904" cy="256032"/>
          </a:xfrm>
          <a:prstGeom prst="rect">
            <a:avLst/>
          </a:prstGeom>
          <a:noFill/>
        </p:spPr>
        <p:txBody>
          <a:bodyPr wrap="square" lIns="18288" tIns="9144" rIns="18288" bIns="9144">
            <a:spAutoFit/>
          </a:bodyPr>
          <a:lstStyle/>
          <a:p>
            <a:pPr algn="ctr">
              <a:defRPr sz="1000" b="1">
                <a:solidFill>
                  <a:srgbClr val="182F3D"/>
                </a:solidFill>
                <a:latin typeface="Aptos"/>
              </a:defRPr>
            </a:pPr>
            <a:r>
              <a:t>non-adverse samples</a:t>
            </a:r>
          </a:p>
        </p:txBody>
      </p:sp>
      <p:sp>
        <p:nvSpPr>
          <p:cNvPr id="15" name="TextBox 14"/>
          <p:cNvSpPr txBox="1"/>
          <p:nvPr/>
        </p:nvSpPr>
        <p:spPr>
          <a:xfrm>
            <a:off x="4087368" y="2249424"/>
            <a:ext cx="2660904" cy="228600"/>
          </a:xfrm>
          <a:prstGeom prst="rect">
            <a:avLst/>
          </a:prstGeom>
          <a:noFill/>
        </p:spPr>
        <p:txBody>
          <a:bodyPr wrap="square" lIns="18288" tIns="9144" rIns="18288" bIns="9144">
            <a:spAutoFit/>
          </a:bodyPr>
          <a:lstStyle/>
          <a:p>
            <a:pPr algn="ctr">
              <a:defRPr sz="850" b="0">
                <a:solidFill>
                  <a:srgbClr val="656D71"/>
                </a:solidFill>
                <a:latin typeface="Aptos"/>
              </a:defRPr>
            </a:pPr>
            <a:r>
              <a:t>8,511 of 8,582</a:t>
            </a:r>
          </a:p>
        </p:txBody>
      </p:sp>
      <p:sp>
        <p:nvSpPr>
          <p:cNvPr id="16" name="Rounded Rectangle 15"/>
          <p:cNvSpPr/>
          <p:nvPr/>
        </p:nvSpPr>
        <p:spPr>
          <a:xfrm>
            <a:off x="7178040" y="1417320"/>
            <a:ext cx="2880360" cy="123444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87768" y="1536192"/>
            <a:ext cx="2660904" cy="365760"/>
          </a:xfrm>
          <a:prstGeom prst="rect">
            <a:avLst/>
          </a:prstGeom>
          <a:noFill/>
        </p:spPr>
        <p:txBody>
          <a:bodyPr wrap="square" lIns="18288" tIns="9144" rIns="18288" bIns="9144">
            <a:spAutoFit/>
          </a:bodyPr>
          <a:lstStyle/>
          <a:p>
            <a:pPr algn="ctr">
              <a:defRPr sz="2400" b="1">
                <a:solidFill>
                  <a:srgbClr val="B14E46"/>
                </a:solidFill>
                <a:latin typeface="Aptos"/>
              </a:defRPr>
            </a:pPr>
            <a:r>
              <a:t>0</a:t>
            </a:r>
          </a:p>
        </p:txBody>
      </p:sp>
      <p:sp>
        <p:nvSpPr>
          <p:cNvPr id="18" name="TextBox 17"/>
          <p:cNvSpPr txBox="1"/>
          <p:nvPr/>
        </p:nvSpPr>
        <p:spPr>
          <a:xfrm>
            <a:off x="7287768" y="1947672"/>
            <a:ext cx="2660904" cy="256032"/>
          </a:xfrm>
          <a:prstGeom prst="rect">
            <a:avLst/>
          </a:prstGeom>
          <a:noFill/>
        </p:spPr>
        <p:txBody>
          <a:bodyPr wrap="square" lIns="18288" tIns="9144" rIns="18288" bIns="9144">
            <a:spAutoFit/>
          </a:bodyPr>
          <a:lstStyle/>
          <a:p>
            <a:pPr algn="ctr">
              <a:defRPr sz="1000" b="1">
                <a:solidFill>
                  <a:srgbClr val="182F3D"/>
                </a:solidFill>
                <a:latin typeface="Aptos"/>
              </a:defRPr>
            </a:pPr>
            <a:r>
              <a:t>adverse detected</a:t>
            </a:r>
          </a:p>
        </p:txBody>
      </p:sp>
      <p:sp>
        <p:nvSpPr>
          <p:cNvPr id="19" name="TextBox 18"/>
          <p:cNvSpPr txBox="1"/>
          <p:nvPr/>
        </p:nvSpPr>
        <p:spPr>
          <a:xfrm>
            <a:off x="7287768" y="2249424"/>
            <a:ext cx="2660904" cy="228600"/>
          </a:xfrm>
          <a:prstGeom prst="rect">
            <a:avLst/>
          </a:prstGeom>
          <a:noFill/>
        </p:spPr>
        <p:txBody>
          <a:bodyPr wrap="square" lIns="18288" tIns="9144" rIns="18288" bIns="9144">
            <a:spAutoFit/>
          </a:bodyPr>
          <a:lstStyle/>
          <a:p>
            <a:pPr algn="ctr">
              <a:defRPr sz="850" b="0">
                <a:solidFill>
                  <a:srgbClr val="656D71"/>
                </a:solidFill>
                <a:latin typeface="Aptos"/>
              </a:defRPr>
            </a:pPr>
            <a:r>
              <a:t>if predicting all samples non-adverse</a:t>
            </a:r>
          </a:p>
        </p:txBody>
      </p:sp>
      <p:sp>
        <p:nvSpPr>
          <p:cNvPr id="20" name="Rounded Rectangle 19"/>
          <p:cNvSpPr/>
          <p:nvPr/>
        </p:nvSpPr>
        <p:spPr>
          <a:xfrm>
            <a:off x="777240" y="3154680"/>
            <a:ext cx="10012680" cy="82296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1560" y="3364992"/>
            <a:ext cx="2743200" cy="320040"/>
          </a:xfrm>
          <a:prstGeom prst="rect">
            <a:avLst/>
          </a:prstGeom>
          <a:noFill/>
        </p:spPr>
        <p:txBody>
          <a:bodyPr wrap="square" lIns="18288" tIns="9144" rIns="18288" bIns="9144">
            <a:spAutoFit/>
          </a:bodyPr>
          <a:lstStyle/>
          <a:p>
            <a:pPr algn="l">
              <a:defRPr sz="1700" b="1">
                <a:solidFill>
                  <a:srgbClr val="182F3D"/>
                </a:solidFill>
                <a:latin typeface="Aptos"/>
              </a:defRPr>
            </a:pPr>
            <a:r>
              <a:t>Accuracy is not the main metric.</a:t>
            </a:r>
          </a:p>
        </p:txBody>
      </p:sp>
      <p:sp>
        <p:nvSpPr>
          <p:cNvPr id="22" name="TextBox 21"/>
          <p:cNvSpPr txBox="1"/>
          <p:nvPr/>
        </p:nvSpPr>
        <p:spPr>
          <a:xfrm>
            <a:off x="3840480" y="3364992"/>
            <a:ext cx="6309360" cy="320040"/>
          </a:xfrm>
          <a:prstGeom prst="rect">
            <a:avLst/>
          </a:prstGeom>
          <a:noFill/>
        </p:spPr>
        <p:txBody>
          <a:bodyPr wrap="square" lIns="18288" tIns="9144" rIns="18288" bIns="9144">
            <a:spAutoFit/>
          </a:bodyPr>
          <a:lstStyle/>
          <a:p>
            <a:pPr algn="l">
              <a:defRPr sz="1500" b="0">
                <a:solidFill>
                  <a:srgbClr val="282F32"/>
                </a:solidFill>
                <a:latin typeface="Aptos"/>
              </a:defRPr>
            </a:pPr>
            <a:r>
              <a:t>The model must find rare adverse cases without flagging everything.</a:t>
            </a:r>
          </a:p>
        </p:txBody>
      </p:sp>
      <p:sp>
        <p:nvSpPr>
          <p:cNvPr id="23" name="TextBox 22"/>
          <p:cNvSpPr txBox="1"/>
          <p:nvPr/>
        </p:nvSpPr>
        <p:spPr>
          <a:xfrm>
            <a:off x="804672" y="4498848"/>
            <a:ext cx="1554480" cy="228600"/>
          </a:xfrm>
          <a:prstGeom prst="rect">
            <a:avLst/>
          </a:prstGeom>
          <a:noFill/>
        </p:spPr>
        <p:txBody>
          <a:bodyPr wrap="square" lIns="18288" tIns="9144" rIns="18288" bIns="9144">
            <a:spAutoFit/>
          </a:bodyPr>
          <a:lstStyle/>
          <a:p>
            <a:pPr algn="l">
              <a:defRPr sz="1000" b="1">
                <a:solidFill>
                  <a:srgbClr val="386952"/>
                </a:solidFill>
                <a:latin typeface="Aptos"/>
              </a:defRPr>
            </a:pPr>
            <a:r>
              <a:t>Primary evaluation</a:t>
            </a:r>
          </a:p>
        </p:txBody>
      </p:sp>
      <p:sp>
        <p:nvSpPr>
          <p:cNvPr id="24" name="Rounded Rectangle 23"/>
          <p:cNvSpPr/>
          <p:nvPr/>
        </p:nvSpPr>
        <p:spPr>
          <a:xfrm>
            <a:off x="777240" y="4846320"/>
            <a:ext cx="2423160" cy="96012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5047488"/>
            <a:ext cx="2240280" cy="228600"/>
          </a:xfrm>
          <a:prstGeom prst="rect">
            <a:avLst/>
          </a:prstGeom>
          <a:noFill/>
        </p:spPr>
        <p:txBody>
          <a:bodyPr wrap="square" lIns="18288" tIns="9144" rIns="18288" bIns="9144">
            <a:spAutoFit/>
          </a:bodyPr>
          <a:lstStyle/>
          <a:p>
            <a:pPr algn="ctr">
              <a:defRPr sz="1300" b="1">
                <a:solidFill>
                  <a:srgbClr val="386952"/>
                </a:solidFill>
                <a:latin typeface="Aptos"/>
              </a:defRPr>
            </a:pPr>
            <a:r>
              <a:t>Recall</a:t>
            </a:r>
          </a:p>
        </p:txBody>
      </p:sp>
      <p:sp>
        <p:nvSpPr>
          <p:cNvPr id="26" name="TextBox 25"/>
          <p:cNvSpPr txBox="1"/>
          <p:nvPr/>
        </p:nvSpPr>
        <p:spPr>
          <a:xfrm>
            <a:off x="941832" y="5376672"/>
            <a:ext cx="2103120" cy="292608"/>
          </a:xfrm>
          <a:prstGeom prst="rect">
            <a:avLst/>
          </a:prstGeom>
          <a:noFill/>
        </p:spPr>
        <p:txBody>
          <a:bodyPr wrap="square" lIns="18288" tIns="9144" rIns="18288" bIns="9144">
            <a:spAutoFit/>
          </a:bodyPr>
          <a:lstStyle/>
          <a:p>
            <a:pPr algn="ctr">
              <a:defRPr sz="850" b="0">
                <a:solidFill>
                  <a:srgbClr val="656D71"/>
                </a:solidFill>
                <a:latin typeface="Aptos"/>
              </a:defRPr>
            </a:pPr>
            <a:r>
              <a:t>How many adverse cases did we capture?</a:t>
            </a:r>
          </a:p>
        </p:txBody>
      </p:sp>
      <p:sp>
        <p:nvSpPr>
          <p:cNvPr id="27" name="Rounded Rectangle 26"/>
          <p:cNvSpPr/>
          <p:nvPr/>
        </p:nvSpPr>
        <p:spPr>
          <a:xfrm>
            <a:off x="3520440" y="4846320"/>
            <a:ext cx="2423160" cy="96012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11880" y="5047488"/>
            <a:ext cx="2240280" cy="228600"/>
          </a:xfrm>
          <a:prstGeom prst="rect">
            <a:avLst/>
          </a:prstGeom>
          <a:noFill/>
        </p:spPr>
        <p:txBody>
          <a:bodyPr wrap="square" lIns="18288" tIns="9144" rIns="18288" bIns="9144">
            <a:spAutoFit/>
          </a:bodyPr>
          <a:lstStyle/>
          <a:p>
            <a:pPr algn="ctr">
              <a:defRPr sz="1300" b="1">
                <a:solidFill>
                  <a:srgbClr val="466F91"/>
                </a:solidFill>
                <a:latin typeface="Aptos"/>
              </a:defRPr>
            </a:pPr>
            <a:r>
              <a:t>PR-AUC</a:t>
            </a:r>
          </a:p>
        </p:txBody>
      </p:sp>
      <p:sp>
        <p:nvSpPr>
          <p:cNvPr id="29" name="TextBox 28"/>
          <p:cNvSpPr txBox="1"/>
          <p:nvPr/>
        </p:nvSpPr>
        <p:spPr>
          <a:xfrm>
            <a:off x="3685032" y="5376672"/>
            <a:ext cx="2103120" cy="292608"/>
          </a:xfrm>
          <a:prstGeom prst="rect">
            <a:avLst/>
          </a:prstGeom>
          <a:noFill/>
        </p:spPr>
        <p:txBody>
          <a:bodyPr wrap="square" lIns="18288" tIns="9144" rIns="18288" bIns="9144">
            <a:spAutoFit/>
          </a:bodyPr>
          <a:lstStyle/>
          <a:p>
            <a:pPr algn="ctr">
              <a:defRPr sz="850" b="0">
                <a:solidFill>
                  <a:srgbClr val="656D71"/>
                </a:solidFill>
                <a:latin typeface="Aptos"/>
              </a:defRPr>
            </a:pPr>
            <a:r>
              <a:t>Ranking quality for a rare positive class</a:t>
            </a:r>
          </a:p>
        </p:txBody>
      </p:sp>
      <p:sp>
        <p:nvSpPr>
          <p:cNvPr id="30" name="Rounded Rectangle 29"/>
          <p:cNvSpPr/>
          <p:nvPr/>
        </p:nvSpPr>
        <p:spPr>
          <a:xfrm>
            <a:off x="6263640" y="4846320"/>
            <a:ext cx="2423160" cy="96012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79" y="5047488"/>
            <a:ext cx="2240280" cy="228600"/>
          </a:xfrm>
          <a:prstGeom prst="rect">
            <a:avLst/>
          </a:prstGeom>
          <a:noFill/>
        </p:spPr>
        <p:txBody>
          <a:bodyPr wrap="square" lIns="18288" tIns="9144" rIns="18288" bIns="9144">
            <a:spAutoFit/>
          </a:bodyPr>
          <a:lstStyle/>
          <a:p>
            <a:pPr algn="ctr">
              <a:defRPr sz="1300" b="1">
                <a:solidFill>
                  <a:srgbClr val="C58B43"/>
                </a:solidFill>
                <a:latin typeface="Aptos"/>
              </a:defRPr>
            </a:pPr>
            <a:r>
              <a:t>F1</a:t>
            </a:r>
          </a:p>
        </p:txBody>
      </p:sp>
      <p:sp>
        <p:nvSpPr>
          <p:cNvPr id="32" name="TextBox 31"/>
          <p:cNvSpPr txBox="1"/>
          <p:nvPr/>
        </p:nvSpPr>
        <p:spPr>
          <a:xfrm>
            <a:off x="6428231" y="5376672"/>
            <a:ext cx="2103120" cy="292608"/>
          </a:xfrm>
          <a:prstGeom prst="rect">
            <a:avLst/>
          </a:prstGeom>
          <a:noFill/>
        </p:spPr>
        <p:txBody>
          <a:bodyPr wrap="square" lIns="18288" tIns="9144" rIns="18288" bIns="9144">
            <a:spAutoFit/>
          </a:bodyPr>
          <a:lstStyle/>
          <a:p>
            <a:pPr algn="ctr">
              <a:defRPr sz="850" b="0">
                <a:solidFill>
                  <a:srgbClr val="656D71"/>
                </a:solidFill>
                <a:latin typeface="Aptos"/>
              </a:defRPr>
            </a:pPr>
            <a:r>
              <a:t>Precision–recall balance</a:t>
            </a:r>
          </a:p>
        </p:txBody>
      </p:sp>
      <p:sp>
        <p:nvSpPr>
          <p:cNvPr id="33" name="Rounded Rectangle 32"/>
          <p:cNvSpPr/>
          <p:nvPr/>
        </p:nvSpPr>
        <p:spPr>
          <a:xfrm>
            <a:off x="9006840" y="4846320"/>
            <a:ext cx="2423160" cy="96012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98280" y="5047488"/>
            <a:ext cx="2240280" cy="228600"/>
          </a:xfrm>
          <a:prstGeom prst="rect">
            <a:avLst/>
          </a:prstGeom>
          <a:noFill/>
        </p:spPr>
        <p:txBody>
          <a:bodyPr wrap="square" lIns="18288" tIns="9144" rIns="18288" bIns="9144">
            <a:spAutoFit/>
          </a:bodyPr>
          <a:lstStyle/>
          <a:p>
            <a:pPr algn="ctr">
              <a:defRPr sz="1300" b="1">
                <a:solidFill>
                  <a:srgbClr val="656D71"/>
                </a:solidFill>
                <a:latin typeface="Aptos"/>
              </a:defRPr>
            </a:pPr>
            <a:r>
              <a:t>ROC-AUC</a:t>
            </a:r>
          </a:p>
        </p:txBody>
      </p:sp>
      <p:sp>
        <p:nvSpPr>
          <p:cNvPr id="35" name="TextBox 34"/>
          <p:cNvSpPr txBox="1"/>
          <p:nvPr/>
        </p:nvSpPr>
        <p:spPr>
          <a:xfrm>
            <a:off x="9171432" y="5376672"/>
            <a:ext cx="2103120" cy="292608"/>
          </a:xfrm>
          <a:prstGeom prst="rect">
            <a:avLst/>
          </a:prstGeom>
          <a:noFill/>
        </p:spPr>
        <p:txBody>
          <a:bodyPr wrap="square" lIns="18288" tIns="9144" rIns="18288" bIns="9144">
            <a:spAutoFit/>
          </a:bodyPr>
          <a:lstStyle/>
          <a:p>
            <a:pPr algn="ctr">
              <a:defRPr sz="850" b="0">
                <a:solidFill>
                  <a:srgbClr val="656D71"/>
                </a:solidFill>
                <a:latin typeface="Aptos"/>
              </a:defRPr>
            </a:pPr>
            <a:r>
              <a:t>Secondary discrimination metric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04 · EDA</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Where Were Adverse Findings Concentrated?</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Observed rates versus the 0.83% overall food-sample benchmark.</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05</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17320"/>
            <a:ext cx="1828800" cy="274320"/>
          </a:xfrm>
          <a:prstGeom prst="rect">
            <a:avLst/>
          </a:prstGeom>
          <a:noFill/>
        </p:spPr>
        <p:txBody>
          <a:bodyPr wrap="square" lIns="18288" tIns="9144" rIns="18288" bIns="9144">
            <a:spAutoFit/>
          </a:bodyPr>
          <a:lstStyle/>
          <a:p>
            <a:pPr algn="l">
              <a:defRPr sz="1400" b="1">
                <a:solidFill>
                  <a:srgbClr val="182F3D"/>
                </a:solidFill>
                <a:latin typeface="Aptos"/>
              </a:defRPr>
            </a:pPr>
            <a:r>
              <a:t>Product Group</a:t>
            </a:r>
          </a:p>
        </p:txBody>
      </p:sp>
      <p:sp>
        <p:nvSpPr>
          <p:cNvPr id="9" name="TextBox 8"/>
          <p:cNvSpPr txBox="1"/>
          <p:nvPr/>
        </p:nvSpPr>
        <p:spPr>
          <a:xfrm>
            <a:off x="685800" y="182880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Gewürze (Spices)</a:t>
            </a:r>
          </a:p>
        </p:txBody>
      </p:sp>
      <p:sp>
        <p:nvSpPr>
          <p:cNvPr id="10" name="Rectangle 9"/>
          <p:cNvSpPr/>
          <p:nvPr/>
        </p:nvSpPr>
        <p:spPr>
          <a:xfrm>
            <a:off x="3840480" y="1874519"/>
            <a:ext cx="1508759"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40480" y="1874519"/>
            <a:ext cx="1384287" cy="118872"/>
          </a:xfrm>
          <a:prstGeom prst="rect">
            <a:avLst/>
          </a:prstGeom>
          <a:solidFill>
            <a:srgbClr val="B14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94959" y="1810512"/>
            <a:ext cx="594360" cy="219456"/>
          </a:xfrm>
          <a:prstGeom prst="rect">
            <a:avLst/>
          </a:prstGeom>
          <a:noFill/>
        </p:spPr>
        <p:txBody>
          <a:bodyPr wrap="square" lIns="18288" tIns="9144" rIns="18288" bIns="9144">
            <a:spAutoFit/>
          </a:bodyPr>
          <a:lstStyle/>
          <a:p>
            <a:pPr algn="r">
              <a:defRPr sz="1019" b="1">
                <a:solidFill>
                  <a:srgbClr val="B14E46"/>
                </a:solidFill>
                <a:latin typeface="Aptos"/>
              </a:defRPr>
            </a:pPr>
            <a:r>
              <a:t>3.67%</a:t>
            </a:r>
          </a:p>
        </p:txBody>
      </p:sp>
      <p:sp>
        <p:nvSpPr>
          <p:cNvPr id="13" name="TextBox 12"/>
          <p:cNvSpPr txBox="1"/>
          <p:nvPr/>
        </p:nvSpPr>
        <p:spPr>
          <a:xfrm>
            <a:off x="685800" y="233172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Legumes / Oilseeds / Nuts</a:t>
            </a:r>
          </a:p>
        </p:txBody>
      </p:sp>
      <p:sp>
        <p:nvSpPr>
          <p:cNvPr id="14" name="Rectangle 13"/>
          <p:cNvSpPr/>
          <p:nvPr/>
        </p:nvSpPr>
        <p:spPr>
          <a:xfrm>
            <a:off x="3840480" y="2377439"/>
            <a:ext cx="1508759"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40480" y="2377439"/>
            <a:ext cx="614819"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94959" y="2313432"/>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1.63%</a:t>
            </a:r>
          </a:p>
        </p:txBody>
      </p:sp>
      <p:sp>
        <p:nvSpPr>
          <p:cNvPr id="17" name="TextBox 16"/>
          <p:cNvSpPr txBox="1"/>
          <p:nvPr/>
        </p:nvSpPr>
        <p:spPr>
          <a:xfrm>
            <a:off x="685800" y="283464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Meat, including frozen</a:t>
            </a:r>
          </a:p>
        </p:txBody>
      </p:sp>
      <p:sp>
        <p:nvSpPr>
          <p:cNvPr id="18" name="Rectangle 17"/>
          <p:cNvSpPr/>
          <p:nvPr/>
        </p:nvSpPr>
        <p:spPr>
          <a:xfrm>
            <a:off x="3840480" y="2880360"/>
            <a:ext cx="1508759"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840480" y="2880360"/>
            <a:ext cx="539381"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94959" y="2816352"/>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1.43%</a:t>
            </a:r>
          </a:p>
        </p:txBody>
      </p:sp>
      <p:sp>
        <p:nvSpPr>
          <p:cNvPr id="21" name="TextBox 20"/>
          <p:cNvSpPr txBox="1"/>
          <p:nvPr/>
        </p:nvSpPr>
        <p:spPr>
          <a:xfrm>
            <a:off x="685800" y="333756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Fresh fruit incl. rhubarb</a:t>
            </a:r>
          </a:p>
        </p:txBody>
      </p:sp>
      <p:sp>
        <p:nvSpPr>
          <p:cNvPr id="22" name="Rectangle 21"/>
          <p:cNvSpPr/>
          <p:nvPr/>
        </p:nvSpPr>
        <p:spPr>
          <a:xfrm>
            <a:off x="3840480" y="3383279"/>
            <a:ext cx="1508759"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840480" y="3383279"/>
            <a:ext cx="373418"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94959" y="3319272"/>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0.99%</a:t>
            </a:r>
          </a:p>
        </p:txBody>
      </p:sp>
      <p:sp>
        <p:nvSpPr>
          <p:cNvPr id="25" name="TextBox 24"/>
          <p:cNvSpPr txBox="1"/>
          <p:nvPr/>
        </p:nvSpPr>
        <p:spPr>
          <a:xfrm>
            <a:off x="685800" y="384048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Overall benchmark</a:t>
            </a:r>
          </a:p>
        </p:txBody>
      </p:sp>
      <p:sp>
        <p:nvSpPr>
          <p:cNvPr id="26" name="Rectangle 25"/>
          <p:cNvSpPr/>
          <p:nvPr/>
        </p:nvSpPr>
        <p:spPr>
          <a:xfrm>
            <a:off x="3840480" y="3886200"/>
            <a:ext cx="1508759"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840480" y="3886200"/>
            <a:ext cx="313067"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94959" y="3822192"/>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0.83%</a:t>
            </a:r>
          </a:p>
        </p:txBody>
      </p:sp>
      <p:sp>
        <p:nvSpPr>
          <p:cNvPr id="29" name="Rounded Rectangle 28"/>
          <p:cNvSpPr/>
          <p:nvPr/>
        </p:nvSpPr>
        <p:spPr>
          <a:xfrm>
            <a:off x="6400800" y="1417320"/>
            <a:ext cx="4983480" cy="28803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0" y="1673352"/>
            <a:ext cx="4297680" cy="274320"/>
          </a:xfrm>
          <a:prstGeom prst="rect">
            <a:avLst/>
          </a:prstGeom>
          <a:noFill/>
        </p:spPr>
        <p:txBody>
          <a:bodyPr wrap="square" lIns="18288" tIns="9144" rIns="18288" bIns="9144">
            <a:spAutoFit/>
          </a:bodyPr>
          <a:lstStyle/>
          <a:p>
            <a:pPr algn="l">
              <a:defRPr sz="1400" b="1">
                <a:solidFill>
                  <a:srgbClr val="182F3D"/>
                </a:solidFill>
                <a:latin typeface="Aptos"/>
              </a:defRPr>
            </a:pPr>
            <a:r>
              <a:t>Specific products that stood out</a:t>
            </a:r>
          </a:p>
        </p:txBody>
      </p:sp>
      <p:sp>
        <p:nvSpPr>
          <p:cNvPr id="31" name="TextBox 30"/>
          <p:cNvSpPr txBox="1"/>
          <p:nvPr/>
        </p:nvSpPr>
        <p:spPr>
          <a:xfrm>
            <a:off x="6675120" y="2148840"/>
            <a:ext cx="2468880" cy="228600"/>
          </a:xfrm>
          <a:prstGeom prst="rect">
            <a:avLst/>
          </a:prstGeom>
          <a:noFill/>
        </p:spPr>
        <p:txBody>
          <a:bodyPr wrap="square" lIns="18288" tIns="9144" rIns="18288" bIns="9144">
            <a:spAutoFit/>
          </a:bodyPr>
          <a:lstStyle/>
          <a:p>
            <a:pPr algn="l">
              <a:defRPr sz="1050" b="0">
                <a:solidFill>
                  <a:srgbClr val="282F32"/>
                </a:solidFill>
                <a:latin typeface="Aptos"/>
              </a:defRPr>
            </a:pPr>
            <a:r>
              <a:t>Frozen sour cherries</a:t>
            </a:r>
          </a:p>
        </p:txBody>
      </p:sp>
      <p:sp>
        <p:nvSpPr>
          <p:cNvPr id="32" name="TextBox 31"/>
          <p:cNvSpPr txBox="1"/>
          <p:nvPr/>
        </p:nvSpPr>
        <p:spPr>
          <a:xfrm>
            <a:off x="9144000" y="2148840"/>
            <a:ext cx="731520" cy="228600"/>
          </a:xfrm>
          <a:prstGeom prst="rect">
            <a:avLst/>
          </a:prstGeom>
          <a:noFill/>
        </p:spPr>
        <p:txBody>
          <a:bodyPr wrap="square" lIns="18288" tIns="9144" rIns="18288" bIns="9144">
            <a:spAutoFit/>
          </a:bodyPr>
          <a:lstStyle/>
          <a:p>
            <a:pPr algn="r">
              <a:defRPr sz="1050" b="1">
                <a:solidFill>
                  <a:srgbClr val="B14E46"/>
                </a:solidFill>
                <a:latin typeface="Aptos"/>
              </a:defRPr>
            </a:pPr>
            <a:r>
              <a:t>12.50%</a:t>
            </a:r>
          </a:p>
        </p:txBody>
      </p:sp>
      <p:sp>
        <p:nvSpPr>
          <p:cNvPr id="33" name="TextBox 32"/>
          <p:cNvSpPr txBox="1"/>
          <p:nvPr/>
        </p:nvSpPr>
        <p:spPr>
          <a:xfrm>
            <a:off x="10012680" y="2148840"/>
            <a:ext cx="914400" cy="228600"/>
          </a:xfrm>
          <a:prstGeom prst="rect">
            <a:avLst/>
          </a:prstGeom>
          <a:noFill/>
        </p:spPr>
        <p:txBody>
          <a:bodyPr wrap="square" lIns="18288" tIns="9144" rIns="18288" bIns="9144">
            <a:spAutoFit/>
          </a:bodyPr>
          <a:lstStyle/>
          <a:p>
            <a:pPr algn="r">
              <a:defRPr sz="900" b="0">
                <a:solidFill>
                  <a:srgbClr val="656D71"/>
                </a:solidFill>
                <a:latin typeface="Aptos"/>
              </a:defRPr>
            </a:pPr>
            <a:r>
              <a:t>4 / 32</a:t>
            </a:r>
          </a:p>
        </p:txBody>
      </p:sp>
      <p:sp>
        <p:nvSpPr>
          <p:cNvPr id="34" name="TextBox 33"/>
          <p:cNvSpPr txBox="1"/>
          <p:nvPr/>
        </p:nvSpPr>
        <p:spPr>
          <a:xfrm>
            <a:off x="6675120" y="2624328"/>
            <a:ext cx="2468880" cy="228600"/>
          </a:xfrm>
          <a:prstGeom prst="rect">
            <a:avLst/>
          </a:prstGeom>
          <a:noFill/>
        </p:spPr>
        <p:txBody>
          <a:bodyPr wrap="square" lIns="18288" tIns="9144" rIns="18288" bIns="9144">
            <a:spAutoFit/>
          </a:bodyPr>
          <a:lstStyle/>
          <a:p>
            <a:pPr algn="l">
              <a:defRPr sz="1050" b="0">
                <a:solidFill>
                  <a:srgbClr val="282F32"/>
                </a:solidFill>
                <a:latin typeface="Aptos"/>
              </a:defRPr>
            </a:pPr>
            <a:r>
              <a:t>Roasted peanuts in shell</a:t>
            </a:r>
          </a:p>
        </p:txBody>
      </p:sp>
      <p:sp>
        <p:nvSpPr>
          <p:cNvPr id="35" name="TextBox 34"/>
          <p:cNvSpPr txBox="1"/>
          <p:nvPr/>
        </p:nvSpPr>
        <p:spPr>
          <a:xfrm>
            <a:off x="9144000" y="2624328"/>
            <a:ext cx="731520" cy="228600"/>
          </a:xfrm>
          <a:prstGeom prst="rect">
            <a:avLst/>
          </a:prstGeom>
          <a:noFill/>
        </p:spPr>
        <p:txBody>
          <a:bodyPr wrap="square" lIns="18288" tIns="9144" rIns="18288" bIns="9144">
            <a:spAutoFit/>
          </a:bodyPr>
          <a:lstStyle/>
          <a:p>
            <a:pPr algn="r">
              <a:defRPr sz="1050" b="1">
                <a:solidFill>
                  <a:srgbClr val="C58B43"/>
                </a:solidFill>
                <a:latin typeface="Aptos"/>
              </a:defRPr>
            </a:pPr>
            <a:r>
              <a:t>3.64%</a:t>
            </a:r>
          </a:p>
        </p:txBody>
      </p:sp>
      <p:sp>
        <p:nvSpPr>
          <p:cNvPr id="36" name="TextBox 35"/>
          <p:cNvSpPr txBox="1"/>
          <p:nvPr/>
        </p:nvSpPr>
        <p:spPr>
          <a:xfrm>
            <a:off x="10012680" y="2624328"/>
            <a:ext cx="914400" cy="228600"/>
          </a:xfrm>
          <a:prstGeom prst="rect">
            <a:avLst/>
          </a:prstGeom>
          <a:noFill/>
        </p:spPr>
        <p:txBody>
          <a:bodyPr wrap="square" lIns="18288" tIns="9144" rIns="18288" bIns="9144">
            <a:spAutoFit/>
          </a:bodyPr>
          <a:lstStyle/>
          <a:p>
            <a:pPr algn="r">
              <a:defRPr sz="900" b="0">
                <a:solidFill>
                  <a:srgbClr val="656D71"/>
                </a:solidFill>
                <a:latin typeface="Aptos"/>
              </a:defRPr>
            </a:pPr>
            <a:r>
              <a:t>8 / 220</a:t>
            </a:r>
          </a:p>
        </p:txBody>
      </p:sp>
      <p:sp>
        <p:nvSpPr>
          <p:cNvPr id="37" name="TextBox 36"/>
          <p:cNvSpPr txBox="1"/>
          <p:nvPr/>
        </p:nvSpPr>
        <p:spPr>
          <a:xfrm>
            <a:off x="6675120" y="3099816"/>
            <a:ext cx="2468880" cy="228600"/>
          </a:xfrm>
          <a:prstGeom prst="rect">
            <a:avLst/>
          </a:prstGeom>
          <a:noFill/>
        </p:spPr>
        <p:txBody>
          <a:bodyPr wrap="square" lIns="18288" tIns="9144" rIns="18288" bIns="9144">
            <a:spAutoFit/>
          </a:bodyPr>
          <a:lstStyle/>
          <a:p>
            <a:pPr algn="l">
              <a:defRPr sz="1050" b="0">
                <a:solidFill>
                  <a:srgbClr val="282F32"/>
                </a:solidFill>
                <a:latin typeface="Aptos"/>
              </a:defRPr>
            </a:pPr>
            <a:r>
              <a:t>Sweet cherries</a:t>
            </a:r>
          </a:p>
        </p:txBody>
      </p:sp>
      <p:sp>
        <p:nvSpPr>
          <p:cNvPr id="38" name="TextBox 37"/>
          <p:cNvSpPr txBox="1"/>
          <p:nvPr/>
        </p:nvSpPr>
        <p:spPr>
          <a:xfrm>
            <a:off x="9144000" y="3099816"/>
            <a:ext cx="731520" cy="228600"/>
          </a:xfrm>
          <a:prstGeom prst="rect">
            <a:avLst/>
          </a:prstGeom>
          <a:noFill/>
        </p:spPr>
        <p:txBody>
          <a:bodyPr wrap="square" lIns="18288" tIns="9144" rIns="18288" bIns="9144">
            <a:spAutoFit/>
          </a:bodyPr>
          <a:lstStyle/>
          <a:p>
            <a:pPr algn="r">
              <a:defRPr sz="1050" b="1">
                <a:solidFill>
                  <a:srgbClr val="C58B43"/>
                </a:solidFill>
                <a:latin typeface="Aptos"/>
              </a:defRPr>
            </a:pPr>
            <a:r>
              <a:t>3.33%</a:t>
            </a:r>
          </a:p>
        </p:txBody>
      </p:sp>
      <p:sp>
        <p:nvSpPr>
          <p:cNvPr id="39" name="TextBox 38"/>
          <p:cNvSpPr txBox="1"/>
          <p:nvPr/>
        </p:nvSpPr>
        <p:spPr>
          <a:xfrm>
            <a:off x="10012680" y="3099816"/>
            <a:ext cx="914400" cy="228600"/>
          </a:xfrm>
          <a:prstGeom prst="rect">
            <a:avLst/>
          </a:prstGeom>
          <a:noFill/>
        </p:spPr>
        <p:txBody>
          <a:bodyPr wrap="square" lIns="18288" tIns="9144" rIns="18288" bIns="9144">
            <a:spAutoFit/>
          </a:bodyPr>
          <a:lstStyle/>
          <a:p>
            <a:pPr algn="r">
              <a:defRPr sz="900" b="0">
                <a:solidFill>
                  <a:srgbClr val="656D71"/>
                </a:solidFill>
                <a:latin typeface="Aptos"/>
              </a:defRPr>
            </a:pPr>
            <a:r>
              <a:t>6 / 180</a:t>
            </a:r>
          </a:p>
        </p:txBody>
      </p:sp>
      <p:sp>
        <p:nvSpPr>
          <p:cNvPr id="40" name="TextBox 39"/>
          <p:cNvSpPr txBox="1"/>
          <p:nvPr/>
        </p:nvSpPr>
        <p:spPr>
          <a:xfrm>
            <a:off x="6675120" y="3575304"/>
            <a:ext cx="2468880" cy="228600"/>
          </a:xfrm>
          <a:prstGeom prst="rect">
            <a:avLst/>
          </a:prstGeom>
          <a:noFill/>
        </p:spPr>
        <p:txBody>
          <a:bodyPr wrap="square" lIns="18288" tIns="9144" rIns="18288" bIns="9144">
            <a:spAutoFit/>
          </a:bodyPr>
          <a:lstStyle/>
          <a:p>
            <a:pPr algn="l">
              <a:defRPr sz="1050" b="0">
                <a:solidFill>
                  <a:srgbClr val="282F32"/>
                </a:solidFill>
                <a:latin typeface="Aptos"/>
              </a:defRPr>
            </a:pPr>
            <a:r>
              <a:t>Black pepper</a:t>
            </a:r>
          </a:p>
        </p:txBody>
      </p:sp>
      <p:sp>
        <p:nvSpPr>
          <p:cNvPr id="41" name="TextBox 40"/>
          <p:cNvSpPr txBox="1"/>
          <p:nvPr/>
        </p:nvSpPr>
        <p:spPr>
          <a:xfrm>
            <a:off x="9144000" y="3575304"/>
            <a:ext cx="731520" cy="228600"/>
          </a:xfrm>
          <a:prstGeom prst="rect">
            <a:avLst/>
          </a:prstGeom>
          <a:noFill/>
        </p:spPr>
        <p:txBody>
          <a:bodyPr wrap="square" lIns="18288" tIns="9144" rIns="18288" bIns="9144">
            <a:spAutoFit/>
          </a:bodyPr>
          <a:lstStyle/>
          <a:p>
            <a:pPr algn="r">
              <a:defRPr sz="1050" b="1">
                <a:solidFill>
                  <a:srgbClr val="C58B43"/>
                </a:solidFill>
                <a:latin typeface="Aptos"/>
              </a:defRPr>
            </a:pPr>
            <a:r>
              <a:t>3.08%</a:t>
            </a:r>
          </a:p>
        </p:txBody>
      </p:sp>
      <p:sp>
        <p:nvSpPr>
          <p:cNvPr id="42" name="TextBox 41"/>
          <p:cNvSpPr txBox="1"/>
          <p:nvPr/>
        </p:nvSpPr>
        <p:spPr>
          <a:xfrm>
            <a:off x="10012680" y="3575304"/>
            <a:ext cx="914400" cy="228600"/>
          </a:xfrm>
          <a:prstGeom prst="rect">
            <a:avLst/>
          </a:prstGeom>
          <a:noFill/>
        </p:spPr>
        <p:txBody>
          <a:bodyPr wrap="square" lIns="18288" tIns="9144" rIns="18288" bIns="9144">
            <a:spAutoFit/>
          </a:bodyPr>
          <a:lstStyle/>
          <a:p>
            <a:pPr algn="r">
              <a:defRPr sz="900" b="0">
                <a:solidFill>
                  <a:srgbClr val="656D71"/>
                </a:solidFill>
                <a:latin typeface="Aptos"/>
              </a:defRPr>
            </a:pPr>
            <a:r>
              <a:t>11 / 357</a:t>
            </a:r>
          </a:p>
        </p:txBody>
      </p:sp>
      <p:sp>
        <p:nvSpPr>
          <p:cNvPr id="43" name="Rounded Rectangle 42"/>
          <p:cNvSpPr/>
          <p:nvPr/>
        </p:nvSpPr>
        <p:spPr>
          <a:xfrm>
            <a:off x="685800" y="4800600"/>
            <a:ext cx="10698480" cy="96012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4400" y="5047488"/>
            <a:ext cx="1188720" cy="228600"/>
          </a:xfrm>
          <a:prstGeom prst="rect">
            <a:avLst/>
          </a:prstGeom>
          <a:noFill/>
        </p:spPr>
        <p:txBody>
          <a:bodyPr wrap="square" lIns="18288" tIns="9144" rIns="18288" bIns="9144">
            <a:spAutoFit/>
          </a:bodyPr>
          <a:lstStyle/>
          <a:p>
            <a:pPr algn="l">
              <a:defRPr sz="1000" b="1">
                <a:solidFill>
                  <a:srgbClr val="386952"/>
                </a:solidFill>
                <a:latin typeface="Aptos"/>
              </a:defRPr>
            </a:pPr>
            <a:r>
              <a:t>Interpretation</a:t>
            </a:r>
          </a:p>
        </p:txBody>
      </p:sp>
      <p:sp>
        <p:nvSpPr>
          <p:cNvPr id="45" name="TextBox 44"/>
          <p:cNvSpPr txBox="1"/>
          <p:nvPr/>
        </p:nvSpPr>
        <p:spPr>
          <a:xfrm>
            <a:off x="2057400" y="4992624"/>
            <a:ext cx="8869680" cy="457200"/>
          </a:xfrm>
          <a:prstGeom prst="rect">
            <a:avLst/>
          </a:prstGeom>
          <a:noFill/>
        </p:spPr>
        <p:txBody>
          <a:bodyPr wrap="square" lIns="18288" tIns="9144" rIns="18288" bIns="9144">
            <a:spAutoFit/>
          </a:bodyPr>
          <a:lstStyle/>
          <a:p>
            <a:pPr algn="l">
              <a:defRPr sz="1300" b="1">
                <a:solidFill>
                  <a:srgbClr val="182F3D"/>
                </a:solidFill>
                <a:latin typeface="Aptos"/>
              </a:defRPr>
            </a:pPr>
            <a:r>
              <a:t>Risk was not evenly distributed. These rates identify investigation priorities — not proof that a product is generally unsafe.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05 · EVIDENCE</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Statistical Evidence &amp; Predictive Signals</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Association tests support the EDA; feature importance supports prediction, not causality.</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06</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417320"/>
            <a:ext cx="2971800" cy="196596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19072"/>
            <a:ext cx="2468880" cy="274320"/>
          </a:xfrm>
          <a:prstGeom prst="rect">
            <a:avLst/>
          </a:prstGeom>
          <a:noFill/>
        </p:spPr>
        <p:txBody>
          <a:bodyPr wrap="square" lIns="18288" tIns="9144" rIns="18288" bIns="9144">
            <a:spAutoFit/>
          </a:bodyPr>
          <a:lstStyle/>
          <a:p>
            <a:pPr algn="l">
              <a:defRPr sz="1200" b="1">
                <a:solidFill>
                  <a:srgbClr val="182F3D"/>
                </a:solidFill>
                <a:latin typeface="Aptos"/>
              </a:defRPr>
            </a:pPr>
            <a:r>
              <a:t>Product Group × Adverse Status</a:t>
            </a:r>
          </a:p>
        </p:txBody>
      </p:sp>
      <p:sp>
        <p:nvSpPr>
          <p:cNvPr id="10" name="TextBox 9"/>
          <p:cNvSpPr txBox="1"/>
          <p:nvPr/>
        </p:nvSpPr>
        <p:spPr>
          <a:xfrm>
            <a:off x="932688" y="2194560"/>
            <a:ext cx="2377440" cy="411480"/>
          </a:xfrm>
          <a:prstGeom prst="rect">
            <a:avLst/>
          </a:prstGeom>
          <a:noFill/>
        </p:spPr>
        <p:txBody>
          <a:bodyPr wrap="square" lIns="18288" tIns="9144" rIns="18288" bIns="9144">
            <a:spAutoFit/>
          </a:bodyPr>
          <a:lstStyle/>
          <a:p>
            <a:pPr algn="l">
              <a:defRPr sz="2400" b="1">
                <a:solidFill>
                  <a:srgbClr val="386952"/>
                </a:solidFill>
                <a:latin typeface="Aptos"/>
              </a:defRPr>
            </a:pPr>
            <a:r>
              <a:t>χ² = 66.32</a:t>
            </a:r>
          </a:p>
        </p:txBody>
      </p:sp>
      <p:sp>
        <p:nvSpPr>
          <p:cNvPr id="11" name="TextBox 10"/>
          <p:cNvSpPr txBox="1"/>
          <p:nvPr/>
        </p:nvSpPr>
        <p:spPr>
          <a:xfrm>
            <a:off x="932688" y="2651760"/>
            <a:ext cx="1828800" cy="320040"/>
          </a:xfrm>
          <a:prstGeom prst="rect">
            <a:avLst/>
          </a:prstGeom>
          <a:noFill/>
        </p:spPr>
        <p:txBody>
          <a:bodyPr wrap="square" lIns="18288" tIns="9144" rIns="18288" bIns="9144">
            <a:spAutoFit/>
          </a:bodyPr>
          <a:lstStyle/>
          <a:p>
            <a:pPr algn="l">
              <a:defRPr sz="1500" b="1">
                <a:solidFill>
                  <a:srgbClr val="182F3D"/>
                </a:solidFill>
                <a:latin typeface="Aptos"/>
              </a:defRPr>
            </a:pPr>
            <a:r>
              <a:t>p &lt; 0.001</a:t>
            </a:r>
          </a:p>
        </p:txBody>
      </p:sp>
      <p:sp>
        <p:nvSpPr>
          <p:cNvPr id="12" name="TextBox 11"/>
          <p:cNvSpPr txBox="1"/>
          <p:nvPr/>
        </p:nvSpPr>
        <p:spPr>
          <a:xfrm>
            <a:off x="932688" y="2999232"/>
            <a:ext cx="2377440" cy="256032"/>
          </a:xfrm>
          <a:prstGeom prst="rect">
            <a:avLst/>
          </a:prstGeom>
          <a:noFill/>
        </p:spPr>
        <p:txBody>
          <a:bodyPr wrap="square" lIns="18288" tIns="9144" rIns="18288" bIns="9144">
            <a:spAutoFit/>
          </a:bodyPr>
          <a:lstStyle/>
          <a:p>
            <a:pPr algn="l">
              <a:defRPr sz="950" b="1">
                <a:solidFill>
                  <a:srgbClr val="B14E46"/>
                </a:solidFill>
                <a:latin typeface="Aptos"/>
              </a:defRPr>
            </a:pPr>
            <a:r>
              <a:t>Caution: 39.47% of expected cells &lt; 5</a:t>
            </a:r>
          </a:p>
        </p:txBody>
      </p:sp>
      <p:sp>
        <p:nvSpPr>
          <p:cNvPr id="13" name="TextBox 12"/>
          <p:cNvSpPr txBox="1"/>
          <p:nvPr/>
        </p:nvSpPr>
        <p:spPr>
          <a:xfrm>
            <a:off x="4160520" y="1417320"/>
            <a:ext cx="4297680" cy="274320"/>
          </a:xfrm>
          <a:prstGeom prst="rect">
            <a:avLst/>
          </a:prstGeom>
          <a:noFill/>
        </p:spPr>
        <p:txBody>
          <a:bodyPr wrap="square" lIns="18288" tIns="9144" rIns="18288" bIns="9144">
            <a:spAutoFit/>
          </a:bodyPr>
          <a:lstStyle/>
          <a:p>
            <a:pPr algn="l">
              <a:defRPr sz="1400" b="1">
                <a:solidFill>
                  <a:srgbClr val="182F3D"/>
                </a:solidFill>
                <a:latin typeface="Aptos"/>
              </a:defRPr>
            </a:pPr>
            <a:r>
              <a:t>Grouped Random Forest feature importance</a:t>
            </a:r>
          </a:p>
        </p:txBody>
      </p:sp>
      <p:sp>
        <p:nvSpPr>
          <p:cNvPr id="14" name="TextBox 13"/>
          <p:cNvSpPr txBox="1"/>
          <p:nvPr/>
        </p:nvSpPr>
        <p:spPr>
          <a:xfrm>
            <a:off x="4160520" y="182880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Specific Product</a:t>
            </a:r>
          </a:p>
        </p:txBody>
      </p:sp>
      <p:sp>
        <p:nvSpPr>
          <p:cNvPr id="15" name="Rectangle 14"/>
          <p:cNvSpPr/>
          <p:nvPr/>
        </p:nvSpPr>
        <p:spPr>
          <a:xfrm>
            <a:off x="7315200" y="1874519"/>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0" y="1874519"/>
            <a:ext cx="2576032"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149840" y="1810512"/>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27.71%</a:t>
            </a:r>
          </a:p>
        </p:txBody>
      </p:sp>
      <p:sp>
        <p:nvSpPr>
          <p:cNvPr id="18" name="TextBox 17"/>
          <p:cNvSpPr txBox="1"/>
          <p:nvPr/>
        </p:nvSpPr>
        <p:spPr>
          <a:xfrm>
            <a:off x="4160520" y="2258568"/>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Product Group</a:t>
            </a:r>
          </a:p>
        </p:txBody>
      </p:sp>
      <p:sp>
        <p:nvSpPr>
          <p:cNvPr id="19" name="Rectangle 18"/>
          <p:cNvSpPr/>
          <p:nvPr/>
        </p:nvSpPr>
        <p:spPr>
          <a:xfrm>
            <a:off x="7315200" y="2304287"/>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0" y="2304287"/>
            <a:ext cx="1532046"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149840" y="2240279"/>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16.48%</a:t>
            </a:r>
          </a:p>
        </p:txBody>
      </p:sp>
      <p:sp>
        <p:nvSpPr>
          <p:cNvPr id="22" name="TextBox 21"/>
          <p:cNvSpPr txBox="1"/>
          <p:nvPr/>
        </p:nvSpPr>
        <p:spPr>
          <a:xfrm>
            <a:off x="4160520" y="2688336"/>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Country</a:t>
            </a:r>
          </a:p>
        </p:txBody>
      </p:sp>
      <p:sp>
        <p:nvSpPr>
          <p:cNvPr id="23" name="Rectangle 22"/>
          <p:cNvSpPr/>
          <p:nvPr/>
        </p:nvSpPr>
        <p:spPr>
          <a:xfrm>
            <a:off x="7315200" y="2734056"/>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0" y="2734056"/>
            <a:ext cx="1033759"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49840" y="2670048"/>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11.12%</a:t>
            </a:r>
          </a:p>
        </p:txBody>
      </p:sp>
      <p:sp>
        <p:nvSpPr>
          <p:cNvPr id="26" name="TextBox 25"/>
          <p:cNvSpPr txBox="1"/>
          <p:nvPr/>
        </p:nvSpPr>
        <p:spPr>
          <a:xfrm>
            <a:off x="4160520" y="3118104"/>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Sampling Month</a:t>
            </a:r>
          </a:p>
        </p:txBody>
      </p:sp>
      <p:sp>
        <p:nvSpPr>
          <p:cNvPr id="27" name="Rectangle 26"/>
          <p:cNvSpPr/>
          <p:nvPr/>
        </p:nvSpPr>
        <p:spPr>
          <a:xfrm>
            <a:off x="7315200" y="3163824"/>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15200" y="3163824"/>
            <a:ext cx="1033759"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149840" y="3099816"/>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11.12%</a:t>
            </a:r>
          </a:p>
        </p:txBody>
      </p:sp>
      <p:sp>
        <p:nvSpPr>
          <p:cNvPr id="30" name="TextBox 29"/>
          <p:cNvSpPr txBox="1"/>
          <p:nvPr/>
        </p:nvSpPr>
        <p:spPr>
          <a:xfrm>
            <a:off x="4160520" y="3547872"/>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Packaging</a:t>
            </a:r>
          </a:p>
        </p:txBody>
      </p:sp>
      <p:sp>
        <p:nvSpPr>
          <p:cNvPr id="31" name="Rectangle 30"/>
          <p:cNvSpPr/>
          <p:nvPr/>
        </p:nvSpPr>
        <p:spPr>
          <a:xfrm>
            <a:off x="7315200" y="3593591"/>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0" y="3593591"/>
            <a:ext cx="986348"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149840" y="3529584"/>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10.61%</a:t>
            </a:r>
          </a:p>
        </p:txBody>
      </p:sp>
      <p:sp>
        <p:nvSpPr>
          <p:cNvPr id="34" name="TextBox 33"/>
          <p:cNvSpPr txBox="1"/>
          <p:nvPr/>
        </p:nvSpPr>
        <p:spPr>
          <a:xfrm>
            <a:off x="4160520" y="3977639"/>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Business Type</a:t>
            </a:r>
          </a:p>
        </p:txBody>
      </p:sp>
      <p:sp>
        <p:nvSpPr>
          <p:cNvPr id="35" name="Rectangle 34"/>
          <p:cNvSpPr/>
          <p:nvPr/>
        </p:nvSpPr>
        <p:spPr>
          <a:xfrm>
            <a:off x="7315200" y="4023359"/>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315200" y="4023359"/>
            <a:ext cx="986348"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49840" y="3959352"/>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10.61%</a:t>
            </a:r>
          </a:p>
        </p:txBody>
      </p:sp>
      <p:sp>
        <p:nvSpPr>
          <p:cNvPr id="38" name="TextBox 37"/>
          <p:cNvSpPr txBox="1"/>
          <p:nvPr/>
        </p:nvSpPr>
        <p:spPr>
          <a:xfrm>
            <a:off x="4160520" y="4407408"/>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Processing</a:t>
            </a:r>
          </a:p>
        </p:txBody>
      </p:sp>
      <p:sp>
        <p:nvSpPr>
          <p:cNvPr id="39" name="Rectangle 38"/>
          <p:cNvSpPr/>
          <p:nvPr/>
        </p:nvSpPr>
        <p:spPr>
          <a:xfrm>
            <a:off x="7315200" y="4453128"/>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315200" y="4453128"/>
            <a:ext cx="802279"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149840" y="4389120"/>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8.63%</a:t>
            </a:r>
          </a:p>
        </p:txBody>
      </p:sp>
      <p:sp>
        <p:nvSpPr>
          <p:cNvPr id="42" name="TextBox 41"/>
          <p:cNvSpPr txBox="1"/>
          <p:nvPr/>
        </p:nvSpPr>
        <p:spPr>
          <a:xfrm>
            <a:off x="4160520" y="4837176"/>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Sampling Programme</a:t>
            </a:r>
          </a:p>
        </p:txBody>
      </p:sp>
      <p:sp>
        <p:nvSpPr>
          <p:cNvPr id="43" name="Rectangle 42"/>
          <p:cNvSpPr/>
          <p:nvPr/>
        </p:nvSpPr>
        <p:spPr>
          <a:xfrm>
            <a:off x="7315200" y="4882896"/>
            <a:ext cx="278892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315200" y="4882896"/>
            <a:ext cx="345826" cy="118872"/>
          </a:xfrm>
          <a:prstGeom prst="rect">
            <a:avLst/>
          </a:prstGeom>
          <a:solidFill>
            <a:srgbClr val="386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49840" y="4818888"/>
            <a:ext cx="594360" cy="219456"/>
          </a:xfrm>
          <a:prstGeom prst="rect">
            <a:avLst/>
          </a:prstGeom>
          <a:noFill/>
        </p:spPr>
        <p:txBody>
          <a:bodyPr wrap="square" lIns="18288" tIns="9144" rIns="18288" bIns="9144">
            <a:spAutoFit/>
          </a:bodyPr>
          <a:lstStyle/>
          <a:p>
            <a:pPr algn="r">
              <a:defRPr sz="1019" b="1">
                <a:solidFill>
                  <a:srgbClr val="386952"/>
                </a:solidFill>
                <a:latin typeface="Aptos"/>
              </a:defRPr>
            </a:pPr>
            <a:r>
              <a:t>3.72%</a:t>
            </a:r>
          </a:p>
        </p:txBody>
      </p:sp>
      <p:sp>
        <p:nvSpPr>
          <p:cNvPr id="46" name="Rounded Rectangle 45"/>
          <p:cNvSpPr/>
          <p:nvPr/>
        </p:nvSpPr>
        <p:spPr>
          <a:xfrm>
            <a:off x="685800" y="3886200"/>
            <a:ext cx="2971800" cy="15087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32688" y="4160520"/>
            <a:ext cx="2286000" cy="274320"/>
          </a:xfrm>
          <a:prstGeom prst="rect">
            <a:avLst/>
          </a:prstGeom>
          <a:noFill/>
        </p:spPr>
        <p:txBody>
          <a:bodyPr wrap="square" lIns="18288" tIns="9144" rIns="18288" bIns="9144">
            <a:spAutoFit/>
          </a:bodyPr>
          <a:lstStyle/>
          <a:p>
            <a:pPr algn="l">
              <a:defRPr sz="1300" b="1">
                <a:solidFill>
                  <a:srgbClr val="182F3D"/>
                </a:solidFill>
                <a:latin typeface="Aptos"/>
              </a:defRPr>
            </a:pPr>
            <a:r>
              <a:t>What this means</a:t>
            </a:r>
          </a:p>
        </p:txBody>
      </p:sp>
      <p:sp>
        <p:nvSpPr>
          <p:cNvPr id="48" name="TextBox 47"/>
          <p:cNvSpPr txBox="1"/>
          <p:nvPr/>
        </p:nvSpPr>
        <p:spPr>
          <a:xfrm>
            <a:off x="932688" y="4553712"/>
            <a:ext cx="2331720" cy="658368"/>
          </a:xfrm>
          <a:prstGeom prst="rect">
            <a:avLst/>
          </a:prstGeom>
          <a:noFill/>
        </p:spPr>
        <p:txBody>
          <a:bodyPr wrap="square" lIns="18288" tIns="9144" rIns="18288" bIns="9144">
            <a:spAutoFit/>
          </a:bodyPr>
          <a:lstStyle/>
          <a:p>
            <a:pPr algn="l">
              <a:defRPr sz="1100" b="0">
                <a:solidFill>
                  <a:srgbClr val="282F32"/>
                </a:solidFill>
                <a:latin typeface="Aptos"/>
              </a:defRPr>
            </a:pPr>
            <a:r>
              <a:t>Observed differences across product groups are unlikely to be random, but sparse categories limit certainty.</a:t>
            </a:r>
          </a:p>
        </p:txBody>
      </p:sp>
      <p:sp>
        <p:nvSpPr>
          <p:cNvPr id="49" name="TextBox 48"/>
          <p:cNvSpPr txBox="1"/>
          <p:nvPr/>
        </p:nvSpPr>
        <p:spPr>
          <a:xfrm>
            <a:off x="4187952" y="5486400"/>
            <a:ext cx="6492240" cy="438912"/>
          </a:xfrm>
          <a:prstGeom prst="rect">
            <a:avLst/>
          </a:prstGeom>
          <a:noFill/>
        </p:spPr>
        <p:txBody>
          <a:bodyPr wrap="square" lIns="18288" tIns="9144" rIns="18288" bIns="9144">
            <a:spAutoFit/>
          </a:bodyPr>
          <a:lstStyle/>
          <a:p>
            <a:pPr algn="l">
              <a:defRPr sz="1000" b="0">
                <a:solidFill>
                  <a:srgbClr val="656D71"/>
                </a:solidFill>
                <a:latin typeface="Aptos"/>
              </a:defRPr>
            </a:pPr>
            <a:r>
              <a:t>Important: impurity-based feature importance can favor high-cardinality variables. Treat it as a predictive ranking, not a causal explanation.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06 · MACHINE LEARNING</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Model Strategy &amp; Cross-Validated Comparison</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Four classifiers, class weighting, 5-fold stratified CV and hyperparameter tuning.</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07</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1371600"/>
            <a:ext cx="1920240" cy="74980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554480"/>
            <a:ext cx="1737360" cy="384048"/>
          </a:xfrm>
          <a:prstGeom prst="rect">
            <a:avLst/>
          </a:prstGeom>
          <a:noFill/>
        </p:spPr>
        <p:txBody>
          <a:bodyPr wrap="square" lIns="18288" tIns="9144" rIns="18288" bIns="9144">
            <a:spAutoFit/>
          </a:bodyPr>
          <a:lstStyle/>
          <a:p>
            <a:pPr algn="ctr">
              <a:defRPr sz="1050" b="1">
                <a:solidFill>
                  <a:srgbClr val="466F91"/>
                </a:solidFill>
                <a:latin typeface="Aptos"/>
              </a:defRPr>
            </a:pPr>
            <a:r>
              <a:t>One-hot</a:t>
            </a:r>
            <a:br/>
            <a:r>
              <a:t>encoding</a:t>
            </a:r>
          </a:p>
        </p:txBody>
      </p:sp>
      <p:sp>
        <p:nvSpPr>
          <p:cNvPr id="10" name="Rounded Rectangle 9"/>
          <p:cNvSpPr/>
          <p:nvPr/>
        </p:nvSpPr>
        <p:spPr>
          <a:xfrm>
            <a:off x="2898648" y="1371600"/>
            <a:ext cx="1920240" cy="74980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90088" y="1554480"/>
            <a:ext cx="1737360" cy="384048"/>
          </a:xfrm>
          <a:prstGeom prst="rect">
            <a:avLst/>
          </a:prstGeom>
          <a:noFill/>
        </p:spPr>
        <p:txBody>
          <a:bodyPr wrap="square" lIns="18288" tIns="9144" rIns="18288" bIns="9144">
            <a:spAutoFit/>
          </a:bodyPr>
          <a:lstStyle/>
          <a:p>
            <a:pPr algn="ctr">
              <a:defRPr sz="1050" b="1">
                <a:solidFill>
                  <a:srgbClr val="386952"/>
                </a:solidFill>
                <a:latin typeface="Aptos"/>
              </a:defRPr>
            </a:pPr>
            <a:r>
              <a:t>Class</a:t>
            </a:r>
            <a:br/>
            <a:r>
              <a:t>weighting</a:t>
            </a:r>
          </a:p>
        </p:txBody>
      </p:sp>
      <p:sp>
        <p:nvSpPr>
          <p:cNvPr id="12" name="Rounded Rectangle 11"/>
          <p:cNvSpPr/>
          <p:nvPr/>
        </p:nvSpPr>
        <p:spPr>
          <a:xfrm>
            <a:off x="5138928" y="1371600"/>
            <a:ext cx="1920240" cy="74980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30368" y="1554480"/>
            <a:ext cx="1737360" cy="384048"/>
          </a:xfrm>
          <a:prstGeom prst="rect">
            <a:avLst/>
          </a:prstGeom>
          <a:noFill/>
        </p:spPr>
        <p:txBody>
          <a:bodyPr wrap="square" lIns="18288" tIns="9144" rIns="18288" bIns="9144">
            <a:spAutoFit/>
          </a:bodyPr>
          <a:lstStyle/>
          <a:p>
            <a:pPr algn="ctr">
              <a:defRPr sz="1050" b="1">
                <a:solidFill>
                  <a:srgbClr val="658B74"/>
                </a:solidFill>
                <a:latin typeface="Aptos"/>
              </a:defRPr>
            </a:pPr>
            <a:r>
              <a:t>5-fold</a:t>
            </a:r>
            <a:br/>
            <a:r>
              <a:t>Stratified CV</a:t>
            </a:r>
          </a:p>
        </p:txBody>
      </p:sp>
      <p:sp>
        <p:nvSpPr>
          <p:cNvPr id="14" name="Rounded Rectangle 13"/>
          <p:cNvSpPr/>
          <p:nvPr/>
        </p:nvSpPr>
        <p:spPr>
          <a:xfrm>
            <a:off x="7379208" y="1371600"/>
            <a:ext cx="1920240" cy="74980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70648" y="1554480"/>
            <a:ext cx="1737360" cy="384048"/>
          </a:xfrm>
          <a:prstGeom prst="rect">
            <a:avLst/>
          </a:prstGeom>
          <a:noFill/>
        </p:spPr>
        <p:txBody>
          <a:bodyPr wrap="square" lIns="18288" tIns="9144" rIns="18288" bIns="9144">
            <a:spAutoFit/>
          </a:bodyPr>
          <a:lstStyle/>
          <a:p>
            <a:pPr algn="ctr">
              <a:defRPr sz="1050" b="1">
                <a:solidFill>
                  <a:srgbClr val="C58B43"/>
                </a:solidFill>
                <a:latin typeface="Aptos"/>
              </a:defRPr>
            </a:pPr>
            <a:r>
              <a:t>Grid</a:t>
            </a:r>
            <a:br/>
            <a:r>
              <a:t>search</a:t>
            </a:r>
          </a:p>
        </p:txBody>
      </p:sp>
      <p:sp>
        <p:nvSpPr>
          <p:cNvPr id="16" name="Rounded Rectangle 15"/>
          <p:cNvSpPr/>
          <p:nvPr/>
        </p:nvSpPr>
        <p:spPr>
          <a:xfrm>
            <a:off x="9619488" y="1371600"/>
            <a:ext cx="1920240" cy="749808"/>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10928" y="1554480"/>
            <a:ext cx="1737360" cy="384048"/>
          </a:xfrm>
          <a:prstGeom prst="rect">
            <a:avLst/>
          </a:prstGeom>
          <a:noFill/>
        </p:spPr>
        <p:txBody>
          <a:bodyPr wrap="square" lIns="18288" tIns="9144" rIns="18288" bIns="9144">
            <a:spAutoFit/>
          </a:bodyPr>
          <a:lstStyle/>
          <a:p>
            <a:pPr algn="ctr">
              <a:defRPr sz="1050" b="1">
                <a:solidFill>
                  <a:srgbClr val="182F3D"/>
                </a:solidFill>
                <a:latin typeface="Aptos"/>
              </a:defRPr>
            </a:pPr>
            <a:r>
              <a:t>OOF threshold</a:t>
            </a:r>
            <a:br/>
            <a:r>
              <a:t>selection</a:t>
            </a:r>
          </a:p>
        </p:txBody>
      </p:sp>
      <p:sp>
        <p:nvSpPr>
          <p:cNvPr id="18" name="Rectangle 17"/>
          <p:cNvSpPr/>
          <p:nvPr/>
        </p:nvSpPr>
        <p:spPr>
          <a:xfrm>
            <a:off x="685800" y="2514600"/>
            <a:ext cx="2971800" cy="457200"/>
          </a:xfrm>
          <a:prstGeom prst="rect">
            <a:avLst/>
          </a:prstGeom>
          <a:solidFill>
            <a:srgbClr val="182F3D"/>
          </a:solidFill>
          <a:ln>
            <a:solidFill>
              <a:srgbClr val="182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2633472"/>
            <a:ext cx="2825496" cy="201168"/>
          </a:xfrm>
          <a:prstGeom prst="rect">
            <a:avLst/>
          </a:prstGeom>
          <a:noFill/>
        </p:spPr>
        <p:txBody>
          <a:bodyPr wrap="square" lIns="18288" tIns="9144" rIns="18288" bIns="9144">
            <a:spAutoFit/>
          </a:bodyPr>
          <a:lstStyle/>
          <a:p>
            <a:pPr algn="l">
              <a:defRPr sz="950" b="1">
                <a:solidFill>
                  <a:srgbClr val="FFFFFF"/>
                </a:solidFill>
                <a:latin typeface="Aptos"/>
              </a:defRPr>
            </a:pPr>
            <a:r>
              <a:t>Model</a:t>
            </a:r>
          </a:p>
        </p:txBody>
      </p:sp>
      <p:sp>
        <p:nvSpPr>
          <p:cNvPr id="20" name="Rectangle 19"/>
          <p:cNvSpPr/>
          <p:nvPr/>
        </p:nvSpPr>
        <p:spPr>
          <a:xfrm>
            <a:off x="3657600" y="2514600"/>
            <a:ext cx="1325880" cy="457200"/>
          </a:xfrm>
          <a:prstGeom prst="rect">
            <a:avLst/>
          </a:prstGeom>
          <a:solidFill>
            <a:srgbClr val="182F3D"/>
          </a:solidFill>
          <a:ln>
            <a:solidFill>
              <a:srgbClr val="182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30752" y="2633472"/>
            <a:ext cx="1179576" cy="201168"/>
          </a:xfrm>
          <a:prstGeom prst="rect">
            <a:avLst/>
          </a:prstGeom>
          <a:noFill/>
        </p:spPr>
        <p:txBody>
          <a:bodyPr wrap="square" lIns="18288" tIns="9144" rIns="18288" bIns="9144">
            <a:spAutoFit/>
          </a:bodyPr>
          <a:lstStyle/>
          <a:p>
            <a:pPr algn="l">
              <a:defRPr sz="950" b="1">
                <a:solidFill>
                  <a:srgbClr val="FFFFFF"/>
                </a:solidFill>
                <a:latin typeface="Aptos"/>
              </a:defRPr>
            </a:pPr>
            <a:r>
              <a:t>Recall</a:t>
            </a:r>
          </a:p>
        </p:txBody>
      </p:sp>
      <p:sp>
        <p:nvSpPr>
          <p:cNvPr id="22" name="Rectangle 21"/>
          <p:cNvSpPr/>
          <p:nvPr/>
        </p:nvSpPr>
        <p:spPr>
          <a:xfrm>
            <a:off x="4983480" y="2514600"/>
            <a:ext cx="1234440" cy="457200"/>
          </a:xfrm>
          <a:prstGeom prst="rect">
            <a:avLst/>
          </a:prstGeom>
          <a:solidFill>
            <a:srgbClr val="182F3D"/>
          </a:solidFill>
          <a:ln>
            <a:solidFill>
              <a:srgbClr val="182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56632" y="2633472"/>
            <a:ext cx="1088136" cy="201168"/>
          </a:xfrm>
          <a:prstGeom prst="rect">
            <a:avLst/>
          </a:prstGeom>
          <a:noFill/>
        </p:spPr>
        <p:txBody>
          <a:bodyPr wrap="square" lIns="18288" tIns="9144" rIns="18288" bIns="9144">
            <a:spAutoFit/>
          </a:bodyPr>
          <a:lstStyle/>
          <a:p>
            <a:pPr algn="l">
              <a:defRPr sz="950" b="1">
                <a:solidFill>
                  <a:srgbClr val="FFFFFF"/>
                </a:solidFill>
                <a:latin typeface="Aptos"/>
              </a:defRPr>
            </a:pPr>
            <a:r>
              <a:t>F1</a:t>
            </a:r>
          </a:p>
        </p:txBody>
      </p:sp>
      <p:sp>
        <p:nvSpPr>
          <p:cNvPr id="24" name="Rectangle 23"/>
          <p:cNvSpPr/>
          <p:nvPr/>
        </p:nvSpPr>
        <p:spPr>
          <a:xfrm>
            <a:off x="6217920" y="2514600"/>
            <a:ext cx="1417320" cy="457200"/>
          </a:xfrm>
          <a:prstGeom prst="rect">
            <a:avLst/>
          </a:prstGeom>
          <a:solidFill>
            <a:srgbClr val="182F3D"/>
          </a:solidFill>
          <a:ln>
            <a:solidFill>
              <a:srgbClr val="182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91072" y="2633472"/>
            <a:ext cx="1271016" cy="201168"/>
          </a:xfrm>
          <a:prstGeom prst="rect">
            <a:avLst/>
          </a:prstGeom>
          <a:noFill/>
        </p:spPr>
        <p:txBody>
          <a:bodyPr wrap="square" lIns="18288" tIns="9144" rIns="18288" bIns="9144">
            <a:spAutoFit/>
          </a:bodyPr>
          <a:lstStyle/>
          <a:p>
            <a:pPr algn="l">
              <a:defRPr sz="950" b="1">
                <a:solidFill>
                  <a:srgbClr val="FFFFFF"/>
                </a:solidFill>
                <a:latin typeface="Aptos"/>
              </a:defRPr>
            </a:pPr>
            <a:r>
              <a:t>PR-AUC</a:t>
            </a:r>
          </a:p>
        </p:txBody>
      </p:sp>
      <p:sp>
        <p:nvSpPr>
          <p:cNvPr id="26" name="Rectangle 25"/>
          <p:cNvSpPr/>
          <p:nvPr/>
        </p:nvSpPr>
        <p:spPr>
          <a:xfrm>
            <a:off x="7635240" y="2514600"/>
            <a:ext cx="1600200" cy="457200"/>
          </a:xfrm>
          <a:prstGeom prst="rect">
            <a:avLst/>
          </a:prstGeom>
          <a:solidFill>
            <a:srgbClr val="182F3D"/>
          </a:solidFill>
          <a:ln>
            <a:solidFill>
              <a:srgbClr val="182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08392" y="2633472"/>
            <a:ext cx="1453896" cy="201168"/>
          </a:xfrm>
          <a:prstGeom prst="rect">
            <a:avLst/>
          </a:prstGeom>
          <a:noFill/>
        </p:spPr>
        <p:txBody>
          <a:bodyPr wrap="square" lIns="18288" tIns="9144" rIns="18288" bIns="9144">
            <a:spAutoFit/>
          </a:bodyPr>
          <a:lstStyle/>
          <a:p>
            <a:pPr algn="l">
              <a:defRPr sz="950" b="1">
                <a:solidFill>
                  <a:srgbClr val="FFFFFF"/>
                </a:solidFill>
                <a:latin typeface="Aptos"/>
              </a:defRPr>
            </a:pPr>
            <a:r>
              <a:t>ROC-AUC</a:t>
            </a:r>
          </a:p>
        </p:txBody>
      </p:sp>
      <p:sp>
        <p:nvSpPr>
          <p:cNvPr id="28" name="Rectangle 27"/>
          <p:cNvSpPr/>
          <p:nvPr/>
        </p:nvSpPr>
        <p:spPr>
          <a:xfrm>
            <a:off x="9235440" y="2514600"/>
            <a:ext cx="1508760" cy="457200"/>
          </a:xfrm>
          <a:prstGeom prst="rect">
            <a:avLst/>
          </a:prstGeom>
          <a:solidFill>
            <a:srgbClr val="182F3D"/>
          </a:solidFill>
          <a:ln>
            <a:solidFill>
              <a:srgbClr val="182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08592" y="2633472"/>
            <a:ext cx="1362456" cy="201168"/>
          </a:xfrm>
          <a:prstGeom prst="rect">
            <a:avLst/>
          </a:prstGeom>
          <a:noFill/>
        </p:spPr>
        <p:txBody>
          <a:bodyPr wrap="square" lIns="18288" tIns="9144" rIns="18288" bIns="9144">
            <a:spAutoFit/>
          </a:bodyPr>
          <a:lstStyle/>
          <a:p>
            <a:pPr algn="l">
              <a:defRPr sz="950" b="1">
                <a:solidFill>
                  <a:srgbClr val="FFFFFF"/>
                </a:solidFill>
                <a:latin typeface="Aptos"/>
              </a:defRPr>
            </a:pPr>
            <a:r>
              <a:t>Note</a:t>
            </a:r>
          </a:p>
        </p:txBody>
      </p:sp>
      <p:sp>
        <p:nvSpPr>
          <p:cNvPr id="30" name="Rectangle 29"/>
          <p:cNvSpPr/>
          <p:nvPr/>
        </p:nvSpPr>
        <p:spPr>
          <a:xfrm>
            <a:off x="685800" y="2971800"/>
            <a:ext cx="29718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8952" y="3108960"/>
            <a:ext cx="2825496" cy="210312"/>
          </a:xfrm>
          <a:prstGeom prst="rect">
            <a:avLst/>
          </a:prstGeom>
          <a:noFill/>
        </p:spPr>
        <p:txBody>
          <a:bodyPr wrap="square" lIns="18288" tIns="9144" rIns="18288" bIns="9144">
            <a:spAutoFit/>
          </a:bodyPr>
          <a:lstStyle/>
          <a:p>
            <a:pPr algn="l">
              <a:defRPr sz="950" b="0">
                <a:solidFill>
                  <a:srgbClr val="282F32"/>
                </a:solidFill>
                <a:latin typeface="Aptos"/>
              </a:defRPr>
            </a:pPr>
            <a:r>
              <a:t>Logistic Regression</a:t>
            </a:r>
          </a:p>
        </p:txBody>
      </p:sp>
      <p:sp>
        <p:nvSpPr>
          <p:cNvPr id="32" name="Rectangle 31"/>
          <p:cNvSpPr/>
          <p:nvPr/>
        </p:nvSpPr>
        <p:spPr>
          <a:xfrm>
            <a:off x="3657600" y="2971800"/>
            <a:ext cx="132588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30752" y="3108960"/>
            <a:ext cx="1179576" cy="210312"/>
          </a:xfrm>
          <a:prstGeom prst="rect">
            <a:avLst/>
          </a:prstGeom>
          <a:noFill/>
        </p:spPr>
        <p:txBody>
          <a:bodyPr wrap="square" lIns="18288" tIns="9144" rIns="18288" bIns="9144">
            <a:spAutoFit/>
          </a:bodyPr>
          <a:lstStyle/>
          <a:p>
            <a:pPr algn="l">
              <a:defRPr sz="950" b="0">
                <a:solidFill>
                  <a:srgbClr val="282F32"/>
                </a:solidFill>
                <a:latin typeface="Aptos"/>
              </a:defRPr>
            </a:pPr>
            <a:r>
              <a:t>44.24%</a:t>
            </a:r>
          </a:p>
        </p:txBody>
      </p:sp>
      <p:sp>
        <p:nvSpPr>
          <p:cNvPr id="34" name="Rectangle 33"/>
          <p:cNvSpPr/>
          <p:nvPr/>
        </p:nvSpPr>
        <p:spPr>
          <a:xfrm>
            <a:off x="4983480" y="2971800"/>
            <a:ext cx="123444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3108960"/>
            <a:ext cx="1088136" cy="210312"/>
          </a:xfrm>
          <a:prstGeom prst="rect">
            <a:avLst/>
          </a:prstGeom>
          <a:noFill/>
        </p:spPr>
        <p:txBody>
          <a:bodyPr wrap="square" lIns="18288" tIns="9144" rIns="18288" bIns="9144">
            <a:spAutoFit/>
          </a:bodyPr>
          <a:lstStyle/>
          <a:p>
            <a:pPr algn="l">
              <a:defRPr sz="950" b="0">
                <a:solidFill>
                  <a:srgbClr val="282F32"/>
                </a:solidFill>
                <a:latin typeface="Aptos"/>
              </a:defRPr>
            </a:pPr>
            <a:r>
              <a:t>6.99%</a:t>
            </a:r>
          </a:p>
        </p:txBody>
      </p:sp>
      <p:sp>
        <p:nvSpPr>
          <p:cNvPr id="36" name="Rectangle 35"/>
          <p:cNvSpPr/>
          <p:nvPr/>
        </p:nvSpPr>
        <p:spPr>
          <a:xfrm>
            <a:off x="6217920" y="2971800"/>
            <a:ext cx="141732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91072" y="3108960"/>
            <a:ext cx="1271016" cy="210312"/>
          </a:xfrm>
          <a:prstGeom prst="rect">
            <a:avLst/>
          </a:prstGeom>
          <a:noFill/>
        </p:spPr>
        <p:txBody>
          <a:bodyPr wrap="square" lIns="18288" tIns="9144" rIns="18288" bIns="9144">
            <a:spAutoFit/>
          </a:bodyPr>
          <a:lstStyle/>
          <a:p>
            <a:pPr algn="l">
              <a:defRPr sz="950" b="0">
                <a:solidFill>
                  <a:srgbClr val="282F32"/>
                </a:solidFill>
                <a:latin typeface="Aptos"/>
              </a:defRPr>
            </a:pPr>
            <a:r>
              <a:t>5.46%</a:t>
            </a:r>
          </a:p>
        </p:txBody>
      </p:sp>
      <p:sp>
        <p:nvSpPr>
          <p:cNvPr id="38" name="Rectangle 37"/>
          <p:cNvSpPr/>
          <p:nvPr/>
        </p:nvSpPr>
        <p:spPr>
          <a:xfrm>
            <a:off x="7635240" y="2971800"/>
            <a:ext cx="16002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08392" y="3108960"/>
            <a:ext cx="1453896" cy="210312"/>
          </a:xfrm>
          <a:prstGeom prst="rect">
            <a:avLst/>
          </a:prstGeom>
          <a:noFill/>
        </p:spPr>
        <p:txBody>
          <a:bodyPr wrap="square" lIns="18288" tIns="9144" rIns="18288" bIns="9144">
            <a:spAutoFit/>
          </a:bodyPr>
          <a:lstStyle/>
          <a:p>
            <a:pPr algn="l">
              <a:defRPr sz="950" b="0">
                <a:solidFill>
                  <a:srgbClr val="282F32"/>
                </a:solidFill>
                <a:latin typeface="Aptos"/>
              </a:defRPr>
            </a:pPr>
            <a:r>
              <a:t>77.81%</a:t>
            </a:r>
          </a:p>
        </p:txBody>
      </p:sp>
      <p:sp>
        <p:nvSpPr>
          <p:cNvPr id="40" name="Rectangle 39"/>
          <p:cNvSpPr/>
          <p:nvPr/>
        </p:nvSpPr>
        <p:spPr>
          <a:xfrm>
            <a:off x="9235440" y="2971800"/>
            <a:ext cx="150876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08592" y="3108960"/>
            <a:ext cx="1362456" cy="210312"/>
          </a:xfrm>
          <a:prstGeom prst="rect">
            <a:avLst/>
          </a:prstGeom>
          <a:noFill/>
        </p:spPr>
        <p:txBody>
          <a:bodyPr wrap="square" lIns="18288" tIns="9144" rIns="18288" bIns="9144">
            <a:spAutoFit/>
          </a:bodyPr>
          <a:lstStyle/>
          <a:p>
            <a:pPr algn="l">
              <a:defRPr sz="950" b="0">
                <a:solidFill>
                  <a:srgbClr val="282F32"/>
                </a:solidFill>
                <a:latin typeface="Aptos"/>
              </a:defRPr>
            </a:pPr>
            <a:r>
              <a:t>Baseline</a:t>
            </a:r>
          </a:p>
        </p:txBody>
      </p:sp>
      <p:sp>
        <p:nvSpPr>
          <p:cNvPr id="42" name="Rectangle 41"/>
          <p:cNvSpPr/>
          <p:nvPr/>
        </p:nvSpPr>
        <p:spPr>
          <a:xfrm>
            <a:off x="685800" y="3474720"/>
            <a:ext cx="29718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8952" y="3611879"/>
            <a:ext cx="2825496" cy="210312"/>
          </a:xfrm>
          <a:prstGeom prst="rect">
            <a:avLst/>
          </a:prstGeom>
          <a:noFill/>
        </p:spPr>
        <p:txBody>
          <a:bodyPr wrap="square" lIns="18288" tIns="9144" rIns="18288" bIns="9144">
            <a:spAutoFit/>
          </a:bodyPr>
          <a:lstStyle/>
          <a:p>
            <a:pPr algn="l">
              <a:defRPr sz="950" b="0">
                <a:solidFill>
                  <a:srgbClr val="282F32"/>
                </a:solidFill>
                <a:latin typeface="Aptos"/>
              </a:defRPr>
            </a:pPr>
            <a:r>
              <a:t>Decision Tree</a:t>
            </a:r>
          </a:p>
        </p:txBody>
      </p:sp>
      <p:sp>
        <p:nvSpPr>
          <p:cNvPr id="44" name="Rectangle 43"/>
          <p:cNvSpPr/>
          <p:nvPr/>
        </p:nvSpPr>
        <p:spPr>
          <a:xfrm>
            <a:off x="3657600" y="3474720"/>
            <a:ext cx="132588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730752" y="3611879"/>
            <a:ext cx="1179576" cy="210312"/>
          </a:xfrm>
          <a:prstGeom prst="rect">
            <a:avLst/>
          </a:prstGeom>
          <a:noFill/>
        </p:spPr>
        <p:txBody>
          <a:bodyPr wrap="square" lIns="18288" tIns="9144" rIns="18288" bIns="9144">
            <a:spAutoFit/>
          </a:bodyPr>
          <a:lstStyle/>
          <a:p>
            <a:pPr algn="l">
              <a:defRPr sz="950" b="0">
                <a:solidFill>
                  <a:srgbClr val="282F32"/>
                </a:solidFill>
                <a:latin typeface="Aptos"/>
              </a:defRPr>
            </a:pPr>
            <a:r>
              <a:t>12.27%</a:t>
            </a:r>
          </a:p>
        </p:txBody>
      </p:sp>
      <p:sp>
        <p:nvSpPr>
          <p:cNvPr id="46" name="Rectangle 45"/>
          <p:cNvSpPr/>
          <p:nvPr/>
        </p:nvSpPr>
        <p:spPr>
          <a:xfrm>
            <a:off x="4983480" y="3474720"/>
            <a:ext cx="123444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056632" y="3611879"/>
            <a:ext cx="1088136" cy="210312"/>
          </a:xfrm>
          <a:prstGeom prst="rect">
            <a:avLst/>
          </a:prstGeom>
          <a:noFill/>
        </p:spPr>
        <p:txBody>
          <a:bodyPr wrap="square" lIns="18288" tIns="9144" rIns="18288" bIns="9144">
            <a:spAutoFit/>
          </a:bodyPr>
          <a:lstStyle/>
          <a:p>
            <a:pPr algn="l">
              <a:defRPr sz="950" b="0">
                <a:solidFill>
                  <a:srgbClr val="282F32"/>
                </a:solidFill>
                <a:latin typeface="Aptos"/>
              </a:defRPr>
            </a:pPr>
            <a:r>
              <a:t>7.78%</a:t>
            </a:r>
          </a:p>
        </p:txBody>
      </p:sp>
      <p:sp>
        <p:nvSpPr>
          <p:cNvPr id="48" name="Rectangle 47"/>
          <p:cNvSpPr/>
          <p:nvPr/>
        </p:nvSpPr>
        <p:spPr>
          <a:xfrm>
            <a:off x="6217920" y="3474720"/>
            <a:ext cx="141732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291072" y="3611879"/>
            <a:ext cx="1271016" cy="210312"/>
          </a:xfrm>
          <a:prstGeom prst="rect">
            <a:avLst/>
          </a:prstGeom>
          <a:noFill/>
        </p:spPr>
        <p:txBody>
          <a:bodyPr wrap="square" lIns="18288" tIns="9144" rIns="18288" bIns="9144">
            <a:spAutoFit/>
          </a:bodyPr>
          <a:lstStyle/>
          <a:p>
            <a:pPr algn="l">
              <a:defRPr sz="950" b="0">
                <a:solidFill>
                  <a:srgbClr val="282F32"/>
                </a:solidFill>
                <a:latin typeface="Aptos"/>
              </a:defRPr>
            </a:pPr>
            <a:r>
              <a:t>2.07%</a:t>
            </a:r>
          </a:p>
        </p:txBody>
      </p:sp>
      <p:sp>
        <p:nvSpPr>
          <p:cNvPr id="50" name="Rectangle 49"/>
          <p:cNvSpPr/>
          <p:nvPr/>
        </p:nvSpPr>
        <p:spPr>
          <a:xfrm>
            <a:off x="7635240" y="3474720"/>
            <a:ext cx="16002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708392" y="3611879"/>
            <a:ext cx="1453896" cy="210312"/>
          </a:xfrm>
          <a:prstGeom prst="rect">
            <a:avLst/>
          </a:prstGeom>
          <a:noFill/>
        </p:spPr>
        <p:txBody>
          <a:bodyPr wrap="square" lIns="18288" tIns="9144" rIns="18288" bIns="9144">
            <a:spAutoFit/>
          </a:bodyPr>
          <a:lstStyle/>
          <a:p>
            <a:pPr algn="l">
              <a:defRPr sz="950" b="0">
                <a:solidFill>
                  <a:srgbClr val="282F32"/>
                </a:solidFill>
                <a:latin typeface="Aptos"/>
              </a:defRPr>
            </a:pPr>
            <a:r>
              <a:t>55.23%</a:t>
            </a:r>
          </a:p>
        </p:txBody>
      </p:sp>
      <p:sp>
        <p:nvSpPr>
          <p:cNvPr id="52" name="Rectangle 51"/>
          <p:cNvSpPr/>
          <p:nvPr/>
        </p:nvSpPr>
        <p:spPr>
          <a:xfrm>
            <a:off x="9235440" y="3474720"/>
            <a:ext cx="150876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308592" y="3611879"/>
            <a:ext cx="1362456" cy="210312"/>
          </a:xfrm>
          <a:prstGeom prst="rect">
            <a:avLst/>
          </a:prstGeom>
          <a:noFill/>
        </p:spPr>
        <p:txBody>
          <a:bodyPr wrap="square" lIns="18288" tIns="9144" rIns="18288" bIns="9144">
            <a:spAutoFit/>
          </a:bodyPr>
          <a:lstStyle/>
          <a:p>
            <a:pPr algn="l">
              <a:defRPr sz="950" b="0">
                <a:solidFill>
                  <a:srgbClr val="282F32"/>
                </a:solidFill>
                <a:latin typeface="Aptos"/>
              </a:defRPr>
            </a:pPr>
            <a:r>
              <a:t>Weak</a:t>
            </a:r>
          </a:p>
        </p:txBody>
      </p:sp>
      <p:sp>
        <p:nvSpPr>
          <p:cNvPr id="54" name="Rectangle 53"/>
          <p:cNvSpPr/>
          <p:nvPr/>
        </p:nvSpPr>
        <p:spPr>
          <a:xfrm>
            <a:off x="685800" y="3977639"/>
            <a:ext cx="29718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58952" y="4114800"/>
            <a:ext cx="2825496" cy="210312"/>
          </a:xfrm>
          <a:prstGeom prst="rect">
            <a:avLst/>
          </a:prstGeom>
          <a:noFill/>
        </p:spPr>
        <p:txBody>
          <a:bodyPr wrap="square" lIns="18288" tIns="9144" rIns="18288" bIns="9144">
            <a:spAutoFit/>
          </a:bodyPr>
          <a:lstStyle/>
          <a:p>
            <a:pPr algn="l">
              <a:defRPr sz="950" b="0">
                <a:solidFill>
                  <a:srgbClr val="282F32"/>
                </a:solidFill>
                <a:latin typeface="Aptos"/>
              </a:defRPr>
            </a:pPr>
            <a:r>
              <a:t>Random Forest</a:t>
            </a:r>
          </a:p>
        </p:txBody>
      </p:sp>
      <p:sp>
        <p:nvSpPr>
          <p:cNvPr id="56" name="Rectangle 55"/>
          <p:cNvSpPr/>
          <p:nvPr/>
        </p:nvSpPr>
        <p:spPr>
          <a:xfrm>
            <a:off x="3657600" y="3977639"/>
            <a:ext cx="132588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730752" y="4114800"/>
            <a:ext cx="1179576" cy="210312"/>
          </a:xfrm>
          <a:prstGeom prst="rect">
            <a:avLst/>
          </a:prstGeom>
          <a:noFill/>
        </p:spPr>
        <p:txBody>
          <a:bodyPr wrap="square" lIns="18288" tIns="9144" rIns="18288" bIns="9144">
            <a:spAutoFit/>
          </a:bodyPr>
          <a:lstStyle/>
          <a:p>
            <a:pPr algn="l">
              <a:defRPr sz="950" b="0">
                <a:solidFill>
                  <a:srgbClr val="282F32"/>
                </a:solidFill>
                <a:latin typeface="Aptos"/>
              </a:defRPr>
            </a:pPr>
            <a:r>
              <a:t>10.61%</a:t>
            </a:r>
          </a:p>
        </p:txBody>
      </p:sp>
      <p:sp>
        <p:nvSpPr>
          <p:cNvPr id="58" name="Rectangle 57"/>
          <p:cNvSpPr/>
          <p:nvPr/>
        </p:nvSpPr>
        <p:spPr>
          <a:xfrm>
            <a:off x="4983480" y="3977639"/>
            <a:ext cx="123444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56632" y="4114800"/>
            <a:ext cx="1088136" cy="210312"/>
          </a:xfrm>
          <a:prstGeom prst="rect">
            <a:avLst/>
          </a:prstGeom>
          <a:noFill/>
        </p:spPr>
        <p:txBody>
          <a:bodyPr wrap="square" lIns="18288" tIns="9144" rIns="18288" bIns="9144">
            <a:spAutoFit/>
          </a:bodyPr>
          <a:lstStyle/>
          <a:p>
            <a:pPr algn="l">
              <a:defRPr sz="950" b="0">
                <a:solidFill>
                  <a:srgbClr val="282F32"/>
                </a:solidFill>
                <a:latin typeface="Aptos"/>
              </a:defRPr>
            </a:pPr>
            <a:r>
              <a:t>9.93%</a:t>
            </a:r>
          </a:p>
        </p:txBody>
      </p:sp>
      <p:sp>
        <p:nvSpPr>
          <p:cNvPr id="60" name="Rectangle 59"/>
          <p:cNvSpPr/>
          <p:nvPr/>
        </p:nvSpPr>
        <p:spPr>
          <a:xfrm>
            <a:off x="6217920" y="3977639"/>
            <a:ext cx="141732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291072" y="4114800"/>
            <a:ext cx="1271016" cy="210312"/>
          </a:xfrm>
          <a:prstGeom prst="rect">
            <a:avLst/>
          </a:prstGeom>
          <a:noFill/>
        </p:spPr>
        <p:txBody>
          <a:bodyPr wrap="square" lIns="18288" tIns="9144" rIns="18288" bIns="9144">
            <a:spAutoFit/>
          </a:bodyPr>
          <a:lstStyle/>
          <a:p>
            <a:pPr algn="l">
              <a:defRPr sz="950" b="0">
                <a:solidFill>
                  <a:srgbClr val="282F32"/>
                </a:solidFill>
                <a:latin typeface="Aptos"/>
              </a:defRPr>
            </a:pPr>
            <a:r>
              <a:t>7.01%</a:t>
            </a:r>
          </a:p>
        </p:txBody>
      </p:sp>
      <p:sp>
        <p:nvSpPr>
          <p:cNvPr id="62" name="Rectangle 61"/>
          <p:cNvSpPr/>
          <p:nvPr/>
        </p:nvSpPr>
        <p:spPr>
          <a:xfrm>
            <a:off x="7635240" y="3977639"/>
            <a:ext cx="16002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708392" y="4114800"/>
            <a:ext cx="1453896" cy="210312"/>
          </a:xfrm>
          <a:prstGeom prst="rect">
            <a:avLst/>
          </a:prstGeom>
          <a:noFill/>
        </p:spPr>
        <p:txBody>
          <a:bodyPr wrap="square" lIns="18288" tIns="9144" rIns="18288" bIns="9144">
            <a:spAutoFit/>
          </a:bodyPr>
          <a:lstStyle/>
          <a:p>
            <a:pPr algn="l">
              <a:defRPr sz="950" b="0">
                <a:solidFill>
                  <a:srgbClr val="282F32"/>
                </a:solidFill>
                <a:latin typeface="Aptos"/>
              </a:defRPr>
            </a:pPr>
            <a:r>
              <a:t>75.48%</a:t>
            </a:r>
          </a:p>
        </p:txBody>
      </p:sp>
      <p:sp>
        <p:nvSpPr>
          <p:cNvPr id="64" name="Rectangle 63"/>
          <p:cNvSpPr/>
          <p:nvPr/>
        </p:nvSpPr>
        <p:spPr>
          <a:xfrm>
            <a:off x="9235440" y="3977639"/>
            <a:ext cx="150876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08592" y="4114800"/>
            <a:ext cx="1362456" cy="210312"/>
          </a:xfrm>
          <a:prstGeom prst="rect">
            <a:avLst/>
          </a:prstGeom>
          <a:noFill/>
        </p:spPr>
        <p:txBody>
          <a:bodyPr wrap="square" lIns="18288" tIns="9144" rIns="18288" bIns="9144">
            <a:spAutoFit/>
          </a:bodyPr>
          <a:lstStyle/>
          <a:p>
            <a:pPr algn="l">
              <a:defRPr sz="950" b="0">
                <a:solidFill>
                  <a:srgbClr val="282F32"/>
                </a:solidFill>
                <a:latin typeface="Aptos"/>
              </a:defRPr>
            </a:pPr>
            <a:r>
              <a:t>Initial</a:t>
            </a:r>
          </a:p>
        </p:txBody>
      </p:sp>
      <p:sp>
        <p:nvSpPr>
          <p:cNvPr id="66" name="Rectangle 65"/>
          <p:cNvSpPr/>
          <p:nvPr/>
        </p:nvSpPr>
        <p:spPr>
          <a:xfrm>
            <a:off x="685800" y="4480560"/>
            <a:ext cx="29718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58952" y="4617720"/>
            <a:ext cx="2825496" cy="210312"/>
          </a:xfrm>
          <a:prstGeom prst="rect">
            <a:avLst/>
          </a:prstGeom>
          <a:noFill/>
        </p:spPr>
        <p:txBody>
          <a:bodyPr wrap="square" lIns="18288" tIns="9144" rIns="18288" bIns="9144">
            <a:spAutoFit/>
          </a:bodyPr>
          <a:lstStyle/>
          <a:p>
            <a:pPr algn="l">
              <a:defRPr sz="950" b="0">
                <a:solidFill>
                  <a:srgbClr val="282F32"/>
                </a:solidFill>
                <a:latin typeface="Aptos"/>
              </a:defRPr>
            </a:pPr>
            <a:r>
              <a:t>XGBoost</a:t>
            </a:r>
          </a:p>
        </p:txBody>
      </p:sp>
      <p:sp>
        <p:nvSpPr>
          <p:cNvPr id="68" name="Rectangle 67"/>
          <p:cNvSpPr/>
          <p:nvPr/>
        </p:nvSpPr>
        <p:spPr>
          <a:xfrm>
            <a:off x="3657600" y="4480560"/>
            <a:ext cx="132588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730752" y="4617720"/>
            <a:ext cx="1179576" cy="210312"/>
          </a:xfrm>
          <a:prstGeom prst="rect">
            <a:avLst/>
          </a:prstGeom>
          <a:noFill/>
        </p:spPr>
        <p:txBody>
          <a:bodyPr wrap="square" lIns="18288" tIns="9144" rIns="18288" bIns="9144">
            <a:spAutoFit/>
          </a:bodyPr>
          <a:lstStyle/>
          <a:p>
            <a:pPr algn="l">
              <a:defRPr sz="950" b="0">
                <a:solidFill>
                  <a:srgbClr val="282F32"/>
                </a:solidFill>
                <a:latin typeface="Aptos"/>
              </a:defRPr>
            </a:pPr>
            <a:r>
              <a:t>33.64%</a:t>
            </a:r>
          </a:p>
        </p:txBody>
      </p:sp>
      <p:sp>
        <p:nvSpPr>
          <p:cNvPr id="70" name="Rectangle 69"/>
          <p:cNvSpPr/>
          <p:nvPr/>
        </p:nvSpPr>
        <p:spPr>
          <a:xfrm>
            <a:off x="4983480" y="4480560"/>
            <a:ext cx="123444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056632" y="4617720"/>
            <a:ext cx="1088136" cy="210312"/>
          </a:xfrm>
          <a:prstGeom prst="rect">
            <a:avLst/>
          </a:prstGeom>
          <a:noFill/>
        </p:spPr>
        <p:txBody>
          <a:bodyPr wrap="square" lIns="18288" tIns="9144" rIns="18288" bIns="9144">
            <a:spAutoFit/>
          </a:bodyPr>
          <a:lstStyle/>
          <a:p>
            <a:pPr algn="l">
              <a:defRPr sz="950" b="0">
                <a:solidFill>
                  <a:srgbClr val="282F32"/>
                </a:solidFill>
                <a:latin typeface="Aptos"/>
              </a:defRPr>
            </a:pPr>
            <a:r>
              <a:t>5.92%</a:t>
            </a:r>
          </a:p>
        </p:txBody>
      </p:sp>
      <p:sp>
        <p:nvSpPr>
          <p:cNvPr id="72" name="Rectangle 71"/>
          <p:cNvSpPr/>
          <p:nvPr/>
        </p:nvSpPr>
        <p:spPr>
          <a:xfrm>
            <a:off x="6217920" y="4480560"/>
            <a:ext cx="141732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291072" y="4617720"/>
            <a:ext cx="1271016" cy="210312"/>
          </a:xfrm>
          <a:prstGeom prst="rect">
            <a:avLst/>
          </a:prstGeom>
          <a:noFill/>
        </p:spPr>
        <p:txBody>
          <a:bodyPr wrap="square" lIns="18288" tIns="9144" rIns="18288" bIns="9144">
            <a:spAutoFit/>
          </a:bodyPr>
          <a:lstStyle/>
          <a:p>
            <a:pPr algn="l">
              <a:defRPr sz="950" b="0">
                <a:solidFill>
                  <a:srgbClr val="282F32"/>
                </a:solidFill>
                <a:latin typeface="Aptos"/>
              </a:defRPr>
            </a:pPr>
            <a:r>
              <a:t>4.53%</a:t>
            </a:r>
          </a:p>
        </p:txBody>
      </p:sp>
      <p:sp>
        <p:nvSpPr>
          <p:cNvPr id="74" name="Rectangle 73"/>
          <p:cNvSpPr/>
          <p:nvPr/>
        </p:nvSpPr>
        <p:spPr>
          <a:xfrm>
            <a:off x="7635240" y="4480560"/>
            <a:ext cx="160020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708392" y="4617720"/>
            <a:ext cx="1453896" cy="210312"/>
          </a:xfrm>
          <a:prstGeom prst="rect">
            <a:avLst/>
          </a:prstGeom>
          <a:noFill/>
        </p:spPr>
        <p:txBody>
          <a:bodyPr wrap="square" lIns="18288" tIns="9144" rIns="18288" bIns="9144">
            <a:spAutoFit/>
          </a:bodyPr>
          <a:lstStyle/>
          <a:p>
            <a:pPr algn="l">
              <a:defRPr sz="950" b="0">
                <a:solidFill>
                  <a:srgbClr val="282F32"/>
                </a:solidFill>
                <a:latin typeface="Aptos"/>
              </a:defRPr>
            </a:pPr>
            <a:r>
              <a:t>73.39%</a:t>
            </a:r>
          </a:p>
        </p:txBody>
      </p:sp>
      <p:sp>
        <p:nvSpPr>
          <p:cNvPr id="76" name="Rectangle 75"/>
          <p:cNvSpPr/>
          <p:nvPr/>
        </p:nvSpPr>
        <p:spPr>
          <a:xfrm>
            <a:off x="9235440" y="4480560"/>
            <a:ext cx="1508760" cy="50292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308592" y="4617720"/>
            <a:ext cx="1362456" cy="210312"/>
          </a:xfrm>
          <a:prstGeom prst="rect">
            <a:avLst/>
          </a:prstGeom>
          <a:noFill/>
        </p:spPr>
        <p:txBody>
          <a:bodyPr wrap="square" lIns="18288" tIns="9144" rIns="18288" bIns="9144">
            <a:spAutoFit/>
          </a:bodyPr>
          <a:lstStyle/>
          <a:p>
            <a:pPr algn="l">
              <a:defRPr sz="950" b="0">
                <a:solidFill>
                  <a:srgbClr val="282F32"/>
                </a:solidFill>
                <a:latin typeface="Aptos"/>
              </a:defRPr>
            </a:pPr>
            <a:r>
              <a:t>Initial</a:t>
            </a:r>
          </a:p>
        </p:txBody>
      </p:sp>
      <p:sp>
        <p:nvSpPr>
          <p:cNvPr id="78" name="Rectangle 77"/>
          <p:cNvSpPr/>
          <p:nvPr/>
        </p:nvSpPr>
        <p:spPr>
          <a:xfrm>
            <a:off x="685800" y="4983480"/>
            <a:ext cx="2971800" cy="502920"/>
          </a:xfrm>
          <a:prstGeom prst="rect">
            <a:avLst/>
          </a:prstGeom>
          <a:solidFill>
            <a:srgbClr val="E7EEE9"/>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58952" y="5120640"/>
            <a:ext cx="2825496" cy="210312"/>
          </a:xfrm>
          <a:prstGeom prst="rect">
            <a:avLst/>
          </a:prstGeom>
          <a:noFill/>
        </p:spPr>
        <p:txBody>
          <a:bodyPr wrap="square" lIns="18288" tIns="9144" rIns="18288" bIns="9144">
            <a:spAutoFit/>
          </a:bodyPr>
          <a:lstStyle/>
          <a:p>
            <a:pPr algn="l">
              <a:defRPr sz="950" b="1">
                <a:solidFill>
                  <a:srgbClr val="386952"/>
                </a:solidFill>
                <a:latin typeface="Aptos"/>
              </a:defRPr>
            </a:pPr>
            <a:r>
              <a:t>Tuned Random Forest</a:t>
            </a:r>
          </a:p>
        </p:txBody>
      </p:sp>
      <p:sp>
        <p:nvSpPr>
          <p:cNvPr id="80" name="Rectangle 79"/>
          <p:cNvSpPr/>
          <p:nvPr/>
        </p:nvSpPr>
        <p:spPr>
          <a:xfrm>
            <a:off x="3657600" y="4983480"/>
            <a:ext cx="1325880" cy="502920"/>
          </a:xfrm>
          <a:prstGeom prst="rect">
            <a:avLst/>
          </a:prstGeom>
          <a:solidFill>
            <a:srgbClr val="E7EEE9"/>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730752" y="5120640"/>
            <a:ext cx="1179576" cy="210312"/>
          </a:xfrm>
          <a:prstGeom prst="rect">
            <a:avLst/>
          </a:prstGeom>
          <a:noFill/>
        </p:spPr>
        <p:txBody>
          <a:bodyPr wrap="square" lIns="18288" tIns="9144" rIns="18288" bIns="9144">
            <a:spAutoFit/>
          </a:bodyPr>
          <a:lstStyle/>
          <a:p>
            <a:pPr algn="l">
              <a:defRPr sz="950" b="1">
                <a:solidFill>
                  <a:srgbClr val="386952"/>
                </a:solidFill>
                <a:latin typeface="Aptos"/>
              </a:defRPr>
            </a:pPr>
            <a:r>
              <a:t>42.12%</a:t>
            </a:r>
          </a:p>
        </p:txBody>
      </p:sp>
      <p:sp>
        <p:nvSpPr>
          <p:cNvPr id="82" name="Rectangle 81"/>
          <p:cNvSpPr/>
          <p:nvPr/>
        </p:nvSpPr>
        <p:spPr>
          <a:xfrm>
            <a:off x="4983480" y="4983480"/>
            <a:ext cx="1234440" cy="502920"/>
          </a:xfrm>
          <a:prstGeom prst="rect">
            <a:avLst/>
          </a:prstGeom>
          <a:solidFill>
            <a:srgbClr val="E7EEE9"/>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056632" y="5120640"/>
            <a:ext cx="1088136" cy="210312"/>
          </a:xfrm>
          <a:prstGeom prst="rect">
            <a:avLst/>
          </a:prstGeom>
          <a:noFill/>
        </p:spPr>
        <p:txBody>
          <a:bodyPr wrap="square" lIns="18288" tIns="9144" rIns="18288" bIns="9144">
            <a:spAutoFit/>
          </a:bodyPr>
          <a:lstStyle/>
          <a:p>
            <a:pPr algn="l">
              <a:defRPr sz="950" b="1">
                <a:solidFill>
                  <a:srgbClr val="386952"/>
                </a:solidFill>
                <a:latin typeface="Aptos"/>
              </a:defRPr>
            </a:pPr>
            <a:r>
              <a:t>7.78%</a:t>
            </a:r>
          </a:p>
        </p:txBody>
      </p:sp>
      <p:sp>
        <p:nvSpPr>
          <p:cNvPr id="84" name="Rectangle 83"/>
          <p:cNvSpPr/>
          <p:nvPr/>
        </p:nvSpPr>
        <p:spPr>
          <a:xfrm>
            <a:off x="6217920" y="4983480"/>
            <a:ext cx="1417320" cy="502920"/>
          </a:xfrm>
          <a:prstGeom prst="rect">
            <a:avLst/>
          </a:prstGeom>
          <a:solidFill>
            <a:srgbClr val="E7EEE9"/>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291072" y="5120640"/>
            <a:ext cx="1271016" cy="210312"/>
          </a:xfrm>
          <a:prstGeom prst="rect">
            <a:avLst/>
          </a:prstGeom>
          <a:noFill/>
        </p:spPr>
        <p:txBody>
          <a:bodyPr wrap="square" lIns="18288" tIns="9144" rIns="18288" bIns="9144">
            <a:spAutoFit/>
          </a:bodyPr>
          <a:lstStyle/>
          <a:p>
            <a:pPr algn="l">
              <a:defRPr sz="950" b="1">
                <a:solidFill>
                  <a:srgbClr val="386952"/>
                </a:solidFill>
                <a:latin typeface="Aptos"/>
              </a:defRPr>
            </a:pPr>
            <a:r>
              <a:t>10.32%</a:t>
            </a:r>
          </a:p>
        </p:txBody>
      </p:sp>
      <p:sp>
        <p:nvSpPr>
          <p:cNvPr id="86" name="Rectangle 85"/>
          <p:cNvSpPr/>
          <p:nvPr/>
        </p:nvSpPr>
        <p:spPr>
          <a:xfrm>
            <a:off x="7635240" y="4983480"/>
            <a:ext cx="1600200" cy="502920"/>
          </a:xfrm>
          <a:prstGeom prst="rect">
            <a:avLst/>
          </a:prstGeom>
          <a:solidFill>
            <a:srgbClr val="E7EEE9"/>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708392" y="5120640"/>
            <a:ext cx="1453896" cy="210312"/>
          </a:xfrm>
          <a:prstGeom prst="rect">
            <a:avLst/>
          </a:prstGeom>
          <a:noFill/>
        </p:spPr>
        <p:txBody>
          <a:bodyPr wrap="square" lIns="18288" tIns="9144" rIns="18288" bIns="9144">
            <a:spAutoFit/>
          </a:bodyPr>
          <a:lstStyle/>
          <a:p>
            <a:pPr algn="l">
              <a:defRPr sz="950" b="1">
                <a:solidFill>
                  <a:srgbClr val="386952"/>
                </a:solidFill>
                <a:latin typeface="Aptos"/>
              </a:defRPr>
            </a:pPr>
            <a:r>
              <a:t>79.98%</a:t>
            </a:r>
          </a:p>
        </p:txBody>
      </p:sp>
      <p:sp>
        <p:nvSpPr>
          <p:cNvPr id="88" name="Rectangle 87"/>
          <p:cNvSpPr/>
          <p:nvPr/>
        </p:nvSpPr>
        <p:spPr>
          <a:xfrm>
            <a:off x="9235440" y="4983480"/>
            <a:ext cx="1508760" cy="502920"/>
          </a:xfrm>
          <a:prstGeom prst="rect">
            <a:avLst/>
          </a:prstGeom>
          <a:solidFill>
            <a:srgbClr val="E7EEE9"/>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308592" y="5120640"/>
            <a:ext cx="1362456" cy="210312"/>
          </a:xfrm>
          <a:prstGeom prst="rect">
            <a:avLst/>
          </a:prstGeom>
          <a:noFill/>
        </p:spPr>
        <p:txBody>
          <a:bodyPr wrap="square" lIns="18288" tIns="9144" rIns="18288" bIns="9144">
            <a:spAutoFit/>
          </a:bodyPr>
          <a:lstStyle/>
          <a:p>
            <a:pPr algn="l">
              <a:defRPr sz="950" b="1">
                <a:solidFill>
                  <a:srgbClr val="386952"/>
                </a:solidFill>
                <a:latin typeface="Aptos"/>
              </a:defRPr>
            </a:pPr>
            <a:r>
              <a:t>Selected</a:t>
            </a:r>
          </a:p>
        </p:txBody>
      </p:sp>
      <p:sp>
        <p:nvSpPr>
          <p:cNvPr id="90" name="Rounded Rectangle 89"/>
          <p:cNvSpPr/>
          <p:nvPr/>
        </p:nvSpPr>
        <p:spPr>
          <a:xfrm>
            <a:off x="685800" y="5715000"/>
            <a:ext cx="10058400" cy="50292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914400" y="5843016"/>
            <a:ext cx="9601200" cy="274320"/>
          </a:xfrm>
          <a:prstGeom prst="rect">
            <a:avLst/>
          </a:prstGeom>
          <a:noFill/>
        </p:spPr>
        <p:txBody>
          <a:bodyPr wrap="square" lIns="18288" tIns="9144" rIns="18288" bIns="9144">
            <a:spAutoFit/>
          </a:bodyPr>
          <a:lstStyle/>
          <a:p>
            <a:pPr algn="ctr">
              <a:defRPr sz="1150" b="1">
                <a:solidFill>
                  <a:srgbClr val="182F3D"/>
                </a:solidFill>
                <a:latin typeface="Aptos"/>
              </a:defRPr>
            </a:pPr>
            <a:r>
              <a:t>Selection logic: tuned Random Forest delivered the strongest cross-validated PR-AUC (10.32%) while preserving useful recall.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07 · FINAL MODEL</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Tuned Random Forest — Locked Test Performance</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Threshold 0.40 was selected from training out-of-fold predictions; the test set was evaluated once.</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08</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1371600"/>
            <a:ext cx="2423160" cy="10972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1490472"/>
            <a:ext cx="2203704" cy="365760"/>
          </a:xfrm>
          <a:prstGeom prst="rect">
            <a:avLst/>
          </a:prstGeom>
          <a:noFill/>
        </p:spPr>
        <p:txBody>
          <a:bodyPr wrap="square" lIns="18288" tIns="9144" rIns="18288" bIns="9144">
            <a:spAutoFit/>
          </a:bodyPr>
          <a:lstStyle/>
          <a:p>
            <a:pPr algn="ctr">
              <a:defRPr sz="2400" b="1">
                <a:solidFill>
                  <a:srgbClr val="386952"/>
                </a:solidFill>
                <a:latin typeface="Aptos"/>
              </a:defRPr>
            </a:pPr>
            <a:r>
              <a:t>64.3%</a:t>
            </a:r>
          </a:p>
        </p:txBody>
      </p:sp>
      <p:sp>
        <p:nvSpPr>
          <p:cNvPr id="10" name="TextBox 9"/>
          <p:cNvSpPr txBox="1"/>
          <p:nvPr/>
        </p:nvSpPr>
        <p:spPr>
          <a:xfrm>
            <a:off x="768096" y="190195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Recall</a:t>
            </a:r>
          </a:p>
        </p:txBody>
      </p:sp>
      <p:sp>
        <p:nvSpPr>
          <p:cNvPr id="11" name="TextBox 10"/>
          <p:cNvSpPr txBox="1"/>
          <p:nvPr/>
        </p:nvSpPr>
        <p:spPr>
          <a:xfrm>
            <a:off x="768096" y="2203704"/>
            <a:ext cx="2203704" cy="228600"/>
          </a:xfrm>
          <a:prstGeom prst="rect">
            <a:avLst/>
          </a:prstGeom>
          <a:noFill/>
        </p:spPr>
        <p:txBody>
          <a:bodyPr wrap="square" lIns="18288" tIns="9144" rIns="18288" bIns="9144">
            <a:spAutoFit/>
          </a:bodyPr>
          <a:lstStyle/>
          <a:p>
            <a:pPr algn="ctr">
              <a:defRPr sz="850" b="0">
                <a:solidFill>
                  <a:srgbClr val="656D71"/>
                </a:solidFill>
                <a:latin typeface="Aptos"/>
              </a:defRPr>
            </a:pPr>
            <a:r>
              <a:t>9 of 14 adverse captured</a:t>
            </a:r>
          </a:p>
        </p:txBody>
      </p:sp>
      <p:sp>
        <p:nvSpPr>
          <p:cNvPr id="12" name="Rounded Rectangle 11"/>
          <p:cNvSpPr/>
          <p:nvPr/>
        </p:nvSpPr>
        <p:spPr>
          <a:xfrm>
            <a:off x="3447287" y="1371600"/>
            <a:ext cx="2423160" cy="10972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57015" y="1490472"/>
            <a:ext cx="2203704" cy="365760"/>
          </a:xfrm>
          <a:prstGeom prst="rect">
            <a:avLst/>
          </a:prstGeom>
          <a:noFill/>
        </p:spPr>
        <p:txBody>
          <a:bodyPr wrap="square" lIns="18288" tIns="9144" rIns="18288" bIns="9144">
            <a:spAutoFit/>
          </a:bodyPr>
          <a:lstStyle/>
          <a:p>
            <a:pPr algn="ctr">
              <a:defRPr sz="2400" b="1">
                <a:solidFill>
                  <a:srgbClr val="466F91"/>
                </a:solidFill>
                <a:latin typeface="Aptos"/>
              </a:defRPr>
            </a:pPr>
            <a:r>
              <a:t>17.6%</a:t>
            </a:r>
          </a:p>
        </p:txBody>
      </p:sp>
      <p:sp>
        <p:nvSpPr>
          <p:cNvPr id="14" name="TextBox 13"/>
          <p:cNvSpPr txBox="1"/>
          <p:nvPr/>
        </p:nvSpPr>
        <p:spPr>
          <a:xfrm>
            <a:off x="3557015" y="190195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Flagged</a:t>
            </a:r>
          </a:p>
        </p:txBody>
      </p:sp>
      <p:sp>
        <p:nvSpPr>
          <p:cNvPr id="15" name="TextBox 14"/>
          <p:cNvSpPr txBox="1"/>
          <p:nvPr/>
        </p:nvSpPr>
        <p:spPr>
          <a:xfrm>
            <a:off x="3557015" y="2203704"/>
            <a:ext cx="2203704" cy="228600"/>
          </a:xfrm>
          <a:prstGeom prst="rect">
            <a:avLst/>
          </a:prstGeom>
          <a:noFill/>
        </p:spPr>
        <p:txBody>
          <a:bodyPr wrap="square" lIns="18288" tIns="9144" rIns="18288" bIns="9144">
            <a:spAutoFit/>
          </a:bodyPr>
          <a:lstStyle/>
          <a:p>
            <a:pPr algn="ctr">
              <a:defRPr sz="850" b="0">
                <a:solidFill>
                  <a:srgbClr val="656D71"/>
                </a:solidFill>
                <a:latin typeface="Aptos"/>
              </a:defRPr>
            </a:pPr>
            <a:r>
              <a:t>302 of 1,717 test samples</a:t>
            </a:r>
          </a:p>
        </p:txBody>
      </p:sp>
      <p:sp>
        <p:nvSpPr>
          <p:cNvPr id="16" name="Rounded Rectangle 15"/>
          <p:cNvSpPr/>
          <p:nvPr/>
        </p:nvSpPr>
        <p:spPr>
          <a:xfrm>
            <a:off x="6236207" y="1371600"/>
            <a:ext cx="2423160" cy="10972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45936" y="1490472"/>
            <a:ext cx="2203704" cy="365760"/>
          </a:xfrm>
          <a:prstGeom prst="rect">
            <a:avLst/>
          </a:prstGeom>
          <a:noFill/>
        </p:spPr>
        <p:txBody>
          <a:bodyPr wrap="square" lIns="18288" tIns="9144" rIns="18288" bIns="9144">
            <a:spAutoFit/>
          </a:bodyPr>
          <a:lstStyle/>
          <a:p>
            <a:pPr algn="ctr">
              <a:defRPr sz="2400" b="1">
                <a:solidFill>
                  <a:srgbClr val="658B74"/>
                </a:solidFill>
                <a:latin typeface="Aptos"/>
              </a:defRPr>
            </a:pPr>
            <a:r>
              <a:t>15.6%</a:t>
            </a:r>
          </a:p>
        </p:txBody>
      </p:sp>
      <p:sp>
        <p:nvSpPr>
          <p:cNvPr id="18" name="TextBox 17"/>
          <p:cNvSpPr txBox="1"/>
          <p:nvPr/>
        </p:nvSpPr>
        <p:spPr>
          <a:xfrm>
            <a:off x="6345936" y="190195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PR-AUC</a:t>
            </a:r>
          </a:p>
        </p:txBody>
      </p:sp>
      <p:sp>
        <p:nvSpPr>
          <p:cNvPr id="19" name="TextBox 18"/>
          <p:cNvSpPr txBox="1"/>
          <p:nvPr/>
        </p:nvSpPr>
        <p:spPr>
          <a:xfrm>
            <a:off x="6345936" y="2203704"/>
            <a:ext cx="2203704" cy="228600"/>
          </a:xfrm>
          <a:prstGeom prst="rect">
            <a:avLst/>
          </a:prstGeom>
          <a:noFill/>
        </p:spPr>
        <p:txBody>
          <a:bodyPr wrap="square" lIns="18288" tIns="9144" rIns="18288" bIns="9144">
            <a:spAutoFit/>
          </a:bodyPr>
          <a:lstStyle/>
          <a:p>
            <a:pPr algn="ctr">
              <a:defRPr sz="850" b="0">
                <a:solidFill>
                  <a:srgbClr val="656D71"/>
                </a:solidFill>
                <a:latin typeface="Aptos"/>
              </a:defRPr>
            </a:pPr>
            <a:r>
              <a:t>final test</a:t>
            </a:r>
          </a:p>
        </p:txBody>
      </p:sp>
      <p:sp>
        <p:nvSpPr>
          <p:cNvPr id="20" name="Rounded Rectangle 19"/>
          <p:cNvSpPr/>
          <p:nvPr/>
        </p:nvSpPr>
        <p:spPr>
          <a:xfrm>
            <a:off x="9025128" y="1371600"/>
            <a:ext cx="2423160" cy="10972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34855" y="1490472"/>
            <a:ext cx="2203704" cy="365760"/>
          </a:xfrm>
          <a:prstGeom prst="rect">
            <a:avLst/>
          </a:prstGeom>
          <a:noFill/>
        </p:spPr>
        <p:txBody>
          <a:bodyPr wrap="square" lIns="18288" tIns="9144" rIns="18288" bIns="9144">
            <a:spAutoFit/>
          </a:bodyPr>
          <a:lstStyle/>
          <a:p>
            <a:pPr algn="ctr">
              <a:defRPr sz="2400" b="1">
                <a:solidFill>
                  <a:srgbClr val="C58B43"/>
                </a:solidFill>
                <a:latin typeface="Aptos"/>
              </a:defRPr>
            </a:pPr>
            <a:r>
              <a:t>82.1%</a:t>
            </a:r>
          </a:p>
        </p:txBody>
      </p:sp>
      <p:sp>
        <p:nvSpPr>
          <p:cNvPr id="22" name="TextBox 21"/>
          <p:cNvSpPr txBox="1"/>
          <p:nvPr/>
        </p:nvSpPr>
        <p:spPr>
          <a:xfrm>
            <a:off x="9134855" y="1901952"/>
            <a:ext cx="2203704" cy="256032"/>
          </a:xfrm>
          <a:prstGeom prst="rect">
            <a:avLst/>
          </a:prstGeom>
          <a:noFill/>
        </p:spPr>
        <p:txBody>
          <a:bodyPr wrap="square" lIns="18288" tIns="9144" rIns="18288" bIns="9144">
            <a:spAutoFit/>
          </a:bodyPr>
          <a:lstStyle/>
          <a:p>
            <a:pPr algn="ctr">
              <a:defRPr sz="1000" b="1">
                <a:solidFill>
                  <a:srgbClr val="182F3D"/>
                </a:solidFill>
                <a:latin typeface="Aptos"/>
              </a:defRPr>
            </a:pPr>
            <a:r>
              <a:t>ROC-AUC</a:t>
            </a:r>
          </a:p>
        </p:txBody>
      </p:sp>
      <p:sp>
        <p:nvSpPr>
          <p:cNvPr id="23" name="TextBox 22"/>
          <p:cNvSpPr txBox="1"/>
          <p:nvPr/>
        </p:nvSpPr>
        <p:spPr>
          <a:xfrm>
            <a:off x="9134855" y="2203704"/>
            <a:ext cx="2203704" cy="228600"/>
          </a:xfrm>
          <a:prstGeom prst="rect">
            <a:avLst/>
          </a:prstGeom>
          <a:noFill/>
        </p:spPr>
        <p:txBody>
          <a:bodyPr wrap="square" lIns="18288" tIns="9144" rIns="18288" bIns="9144">
            <a:spAutoFit/>
          </a:bodyPr>
          <a:lstStyle/>
          <a:p>
            <a:pPr algn="ctr">
              <a:defRPr sz="850" b="0">
                <a:solidFill>
                  <a:srgbClr val="656D71"/>
                </a:solidFill>
                <a:latin typeface="Aptos"/>
              </a:defRPr>
            </a:pPr>
            <a:r>
              <a:t>final test</a:t>
            </a:r>
          </a:p>
        </p:txBody>
      </p:sp>
      <p:sp>
        <p:nvSpPr>
          <p:cNvPr id="24" name="TextBox 23"/>
          <p:cNvSpPr txBox="1"/>
          <p:nvPr/>
        </p:nvSpPr>
        <p:spPr>
          <a:xfrm>
            <a:off x="713232" y="2880360"/>
            <a:ext cx="1828800" cy="274320"/>
          </a:xfrm>
          <a:prstGeom prst="rect">
            <a:avLst/>
          </a:prstGeom>
          <a:noFill/>
        </p:spPr>
        <p:txBody>
          <a:bodyPr wrap="square" lIns="18288" tIns="9144" rIns="18288" bIns="9144">
            <a:spAutoFit/>
          </a:bodyPr>
          <a:lstStyle/>
          <a:p>
            <a:pPr algn="l">
              <a:defRPr sz="1400" b="1">
                <a:solidFill>
                  <a:srgbClr val="182F3D"/>
                </a:solidFill>
                <a:latin typeface="Aptos"/>
              </a:defRPr>
            </a:pPr>
            <a:r>
              <a:t>Confusion matrix</a:t>
            </a:r>
          </a:p>
        </p:txBody>
      </p:sp>
      <p:sp>
        <p:nvSpPr>
          <p:cNvPr id="25" name="Rectangle 24"/>
          <p:cNvSpPr/>
          <p:nvPr/>
        </p:nvSpPr>
        <p:spPr>
          <a:xfrm>
            <a:off x="914400" y="3337560"/>
            <a:ext cx="1645920" cy="594360"/>
          </a:xfrm>
          <a:prstGeom prst="rect">
            <a:avLst/>
          </a:prstGeom>
          <a:solidFill>
            <a:srgbClr val="182F3D"/>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7552" y="3456432"/>
            <a:ext cx="1499616" cy="320040"/>
          </a:xfrm>
          <a:prstGeom prst="rect">
            <a:avLst/>
          </a:prstGeom>
          <a:noFill/>
        </p:spPr>
        <p:txBody>
          <a:bodyPr wrap="square" lIns="18288" tIns="9144" rIns="18288" bIns="9144">
            <a:spAutoFit/>
          </a:bodyPr>
          <a:lstStyle/>
          <a:p>
            <a:pPr algn="ctr">
              <a:defRPr sz="1000" b="1">
                <a:solidFill>
                  <a:srgbClr val="FFFFFF"/>
                </a:solidFill>
                <a:latin typeface="Aptos"/>
              </a:defRPr>
            </a:pPr>
            <a:endParaRPr/>
          </a:p>
        </p:txBody>
      </p:sp>
      <p:sp>
        <p:nvSpPr>
          <p:cNvPr id="27" name="Rectangle 26"/>
          <p:cNvSpPr/>
          <p:nvPr/>
        </p:nvSpPr>
        <p:spPr>
          <a:xfrm>
            <a:off x="2560320" y="3337560"/>
            <a:ext cx="1645920" cy="594360"/>
          </a:xfrm>
          <a:prstGeom prst="rect">
            <a:avLst/>
          </a:prstGeom>
          <a:solidFill>
            <a:srgbClr val="182F3D"/>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633472" y="3456432"/>
            <a:ext cx="1499616" cy="320040"/>
          </a:xfrm>
          <a:prstGeom prst="rect">
            <a:avLst/>
          </a:prstGeom>
          <a:noFill/>
        </p:spPr>
        <p:txBody>
          <a:bodyPr wrap="square" lIns="18288" tIns="9144" rIns="18288" bIns="9144">
            <a:spAutoFit/>
          </a:bodyPr>
          <a:lstStyle/>
          <a:p>
            <a:pPr algn="ctr">
              <a:defRPr sz="1000" b="1">
                <a:solidFill>
                  <a:srgbClr val="FFFFFF"/>
                </a:solidFill>
                <a:latin typeface="Aptos"/>
              </a:defRPr>
            </a:pPr>
            <a:r>
              <a:t>Predicted</a:t>
            </a:r>
            <a:br/>
            <a:r>
              <a:t>non-adverse</a:t>
            </a:r>
          </a:p>
        </p:txBody>
      </p:sp>
      <p:sp>
        <p:nvSpPr>
          <p:cNvPr id="29" name="Rectangle 28"/>
          <p:cNvSpPr/>
          <p:nvPr/>
        </p:nvSpPr>
        <p:spPr>
          <a:xfrm>
            <a:off x="4206240" y="3337560"/>
            <a:ext cx="1645920" cy="594360"/>
          </a:xfrm>
          <a:prstGeom prst="rect">
            <a:avLst/>
          </a:prstGeom>
          <a:solidFill>
            <a:srgbClr val="182F3D"/>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79392" y="3456432"/>
            <a:ext cx="1499616" cy="320040"/>
          </a:xfrm>
          <a:prstGeom prst="rect">
            <a:avLst/>
          </a:prstGeom>
          <a:noFill/>
        </p:spPr>
        <p:txBody>
          <a:bodyPr wrap="square" lIns="18288" tIns="9144" rIns="18288" bIns="9144">
            <a:spAutoFit/>
          </a:bodyPr>
          <a:lstStyle/>
          <a:p>
            <a:pPr algn="ctr">
              <a:defRPr sz="1000" b="1">
                <a:solidFill>
                  <a:srgbClr val="FFFFFF"/>
                </a:solidFill>
                <a:latin typeface="Aptos"/>
              </a:defRPr>
            </a:pPr>
            <a:r>
              <a:t>Predicted</a:t>
            </a:r>
            <a:br/>
            <a:r>
              <a:t>higher risk</a:t>
            </a:r>
          </a:p>
        </p:txBody>
      </p:sp>
      <p:sp>
        <p:nvSpPr>
          <p:cNvPr id="31" name="Rectangle 30"/>
          <p:cNvSpPr/>
          <p:nvPr/>
        </p:nvSpPr>
        <p:spPr>
          <a:xfrm>
            <a:off x="914400" y="3931920"/>
            <a:ext cx="1645920" cy="594360"/>
          </a:xfrm>
          <a:prstGeom prst="rect">
            <a:avLst/>
          </a:prstGeom>
          <a:solidFill>
            <a:srgbClr val="182F3D"/>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87552" y="4050791"/>
            <a:ext cx="1499616" cy="320040"/>
          </a:xfrm>
          <a:prstGeom prst="rect">
            <a:avLst/>
          </a:prstGeom>
          <a:noFill/>
        </p:spPr>
        <p:txBody>
          <a:bodyPr wrap="square" lIns="18288" tIns="9144" rIns="18288" bIns="9144">
            <a:spAutoFit/>
          </a:bodyPr>
          <a:lstStyle/>
          <a:p>
            <a:pPr algn="ctr">
              <a:defRPr sz="1000" b="1">
                <a:solidFill>
                  <a:srgbClr val="FFFFFF"/>
                </a:solidFill>
                <a:latin typeface="Aptos"/>
              </a:defRPr>
            </a:pPr>
            <a:r>
              <a:t>Actual</a:t>
            </a:r>
            <a:br/>
            <a:r>
              <a:t>non-adverse</a:t>
            </a:r>
          </a:p>
        </p:txBody>
      </p:sp>
      <p:sp>
        <p:nvSpPr>
          <p:cNvPr id="33" name="Rectangle 32"/>
          <p:cNvSpPr/>
          <p:nvPr/>
        </p:nvSpPr>
        <p:spPr>
          <a:xfrm>
            <a:off x="2560320" y="3931920"/>
            <a:ext cx="1645920" cy="59436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633472" y="4050791"/>
            <a:ext cx="1499616" cy="320040"/>
          </a:xfrm>
          <a:prstGeom prst="rect">
            <a:avLst/>
          </a:prstGeom>
          <a:noFill/>
        </p:spPr>
        <p:txBody>
          <a:bodyPr wrap="square" lIns="18288" tIns="9144" rIns="18288" bIns="9144">
            <a:spAutoFit/>
          </a:bodyPr>
          <a:lstStyle/>
          <a:p>
            <a:pPr algn="ctr">
              <a:defRPr sz="1000" b="1">
                <a:solidFill>
                  <a:srgbClr val="282F32"/>
                </a:solidFill>
                <a:latin typeface="Aptos"/>
              </a:defRPr>
            </a:pPr>
            <a:r>
              <a:t>1,410</a:t>
            </a:r>
          </a:p>
        </p:txBody>
      </p:sp>
      <p:sp>
        <p:nvSpPr>
          <p:cNvPr id="35" name="Rectangle 34"/>
          <p:cNvSpPr/>
          <p:nvPr/>
        </p:nvSpPr>
        <p:spPr>
          <a:xfrm>
            <a:off x="4206240" y="3931920"/>
            <a:ext cx="1645920" cy="59436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79392" y="4050791"/>
            <a:ext cx="1499616" cy="320040"/>
          </a:xfrm>
          <a:prstGeom prst="rect">
            <a:avLst/>
          </a:prstGeom>
          <a:noFill/>
        </p:spPr>
        <p:txBody>
          <a:bodyPr wrap="square" lIns="18288" tIns="9144" rIns="18288" bIns="9144">
            <a:spAutoFit/>
          </a:bodyPr>
          <a:lstStyle/>
          <a:p>
            <a:pPr algn="ctr">
              <a:defRPr sz="1000" b="1">
                <a:solidFill>
                  <a:srgbClr val="282F32"/>
                </a:solidFill>
                <a:latin typeface="Aptos"/>
              </a:defRPr>
            </a:pPr>
            <a:r>
              <a:t>293</a:t>
            </a:r>
          </a:p>
        </p:txBody>
      </p:sp>
      <p:sp>
        <p:nvSpPr>
          <p:cNvPr id="37" name="Rectangle 36"/>
          <p:cNvSpPr/>
          <p:nvPr/>
        </p:nvSpPr>
        <p:spPr>
          <a:xfrm>
            <a:off x="914400" y="4526280"/>
            <a:ext cx="1645920" cy="594360"/>
          </a:xfrm>
          <a:prstGeom prst="rect">
            <a:avLst/>
          </a:prstGeom>
          <a:solidFill>
            <a:srgbClr val="182F3D"/>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87552" y="4645152"/>
            <a:ext cx="1499616" cy="320040"/>
          </a:xfrm>
          <a:prstGeom prst="rect">
            <a:avLst/>
          </a:prstGeom>
          <a:noFill/>
        </p:spPr>
        <p:txBody>
          <a:bodyPr wrap="square" lIns="18288" tIns="9144" rIns="18288" bIns="9144">
            <a:spAutoFit/>
          </a:bodyPr>
          <a:lstStyle/>
          <a:p>
            <a:pPr algn="ctr">
              <a:defRPr sz="1000" b="1">
                <a:solidFill>
                  <a:srgbClr val="FFFFFF"/>
                </a:solidFill>
                <a:latin typeface="Aptos"/>
              </a:defRPr>
            </a:pPr>
            <a:r>
              <a:t>Actual</a:t>
            </a:r>
            <a:br/>
            <a:r>
              <a:t>adverse</a:t>
            </a:r>
          </a:p>
        </p:txBody>
      </p:sp>
      <p:sp>
        <p:nvSpPr>
          <p:cNvPr id="39" name="Rectangle 38"/>
          <p:cNvSpPr/>
          <p:nvPr/>
        </p:nvSpPr>
        <p:spPr>
          <a:xfrm>
            <a:off x="2560320" y="4526280"/>
            <a:ext cx="1645920" cy="594360"/>
          </a:xfrm>
          <a:prstGeom prst="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633472" y="4645152"/>
            <a:ext cx="1499616" cy="320040"/>
          </a:xfrm>
          <a:prstGeom prst="rect">
            <a:avLst/>
          </a:prstGeom>
          <a:noFill/>
        </p:spPr>
        <p:txBody>
          <a:bodyPr wrap="square" lIns="18288" tIns="9144" rIns="18288" bIns="9144">
            <a:spAutoFit/>
          </a:bodyPr>
          <a:lstStyle/>
          <a:p>
            <a:pPr algn="ctr">
              <a:defRPr sz="1000" b="1">
                <a:solidFill>
                  <a:srgbClr val="282F32"/>
                </a:solidFill>
                <a:latin typeface="Aptos"/>
              </a:defRPr>
            </a:pPr>
            <a:r>
              <a:t>5</a:t>
            </a:r>
          </a:p>
        </p:txBody>
      </p:sp>
      <p:sp>
        <p:nvSpPr>
          <p:cNvPr id="41" name="Rectangle 40"/>
          <p:cNvSpPr/>
          <p:nvPr/>
        </p:nvSpPr>
        <p:spPr>
          <a:xfrm>
            <a:off x="4206240" y="4526280"/>
            <a:ext cx="1645920" cy="594360"/>
          </a:xfrm>
          <a:prstGeom prst="rect">
            <a:avLst/>
          </a:prstGeom>
          <a:solidFill>
            <a:srgbClr val="E7EEE9"/>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79392" y="4645152"/>
            <a:ext cx="1499616" cy="320040"/>
          </a:xfrm>
          <a:prstGeom prst="rect">
            <a:avLst/>
          </a:prstGeom>
          <a:noFill/>
        </p:spPr>
        <p:txBody>
          <a:bodyPr wrap="square" lIns="18288" tIns="9144" rIns="18288" bIns="9144">
            <a:spAutoFit/>
          </a:bodyPr>
          <a:lstStyle/>
          <a:p>
            <a:pPr algn="ctr">
              <a:defRPr sz="1000" b="1">
                <a:solidFill>
                  <a:srgbClr val="282F32"/>
                </a:solidFill>
                <a:latin typeface="Aptos"/>
              </a:defRPr>
            </a:pPr>
            <a:r>
              <a:t>9</a:t>
            </a:r>
          </a:p>
        </p:txBody>
      </p:sp>
      <p:sp>
        <p:nvSpPr>
          <p:cNvPr id="43" name="Rounded Rectangle 42"/>
          <p:cNvSpPr/>
          <p:nvPr/>
        </p:nvSpPr>
        <p:spPr>
          <a:xfrm>
            <a:off x="6583680" y="2971800"/>
            <a:ext cx="4572000" cy="224028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76288" y="3273552"/>
            <a:ext cx="3931920" cy="274320"/>
          </a:xfrm>
          <a:prstGeom prst="rect">
            <a:avLst/>
          </a:prstGeom>
          <a:noFill/>
        </p:spPr>
        <p:txBody>
          <a:bodyPr wrap="square" lIns="18288" tIns="9144" rIns="18288" bIns="9144">
            <a:spAutoFit/>
          </a:bodyPr>
          <a:lstStyle/>
          <a:p>
            <a:pPr algn="l">
              <a:defRPr sz="1400" b="1">
                <a:solidFill>
                  <a:srgbClr val="182F3D"/>
                </a:solidFill>
                <a:latin typeface="Aptos"/>
              </a:defRPr>
            </a:pPr>
            <a:r>
              <a:t>Operational interpretation</a:t>
            </a:r>
          </a:p>
        </p:txBody>
      </p:sp>
      <p:sp>
        <p:nvSpPr>
          <p:cNvPr id="45" name="TextBox 44"/>
          <p:cNvSpPr txBox="1"/>
          <p:nvPr/>
        </p:nvSpPr>
        <p:spPr>
          <a:xfrm>
            <a:off x="6876288" y="3730752"/>
            <a:ext cx="3749039" cy="731520"/>
          </a:xfrm>
          <a:prstGeom prst="rect">
            <a:avLst/>
          </a:prstGeom>
          <a:noFill/>
        </p:spPr>
        <p:txBody>
          <a:bodyPr wrap="square" lIns="18288" tIns="9144" rIns="18288" bIns="9144">
            <a:spAutoFit/>
          </a:bodyPr>
          <a:lstStyle/>
          <a:p>
            <a:pPr algn="l">
              <a:defRPr sz="1800" b="1">
                <a:solidFill>
                  <a:srgbClr val="386952"/>
                </a:solidFill>
                <a:latin typeface="Aptos"/>
              </a:defRPr>
            </a:pPr>
            <a:r>
              <a:t>Screening 17.6% of test samples captured 64.3% of the observed adverse cases.</a:t>
            </a:r>
          </a:p>
        </p:txBody>
      </p:sp>
      <p:sp>
        <p:nvSpPr>
          <p:cNvPr id="46" name="TextBox 45"/>
          <p:cNvSpPr txBox="1"/>
          <p:nvPr/>
        </p:nvSpPr>
        <p:spPr>
          <a:xfrm>
            <a:off x="6876288" y="4572000"/>
            <a:ext cx="3749039" cy="274320"/>
          </a:xfrm>
          <a:prstGeom prst="rect">
            <a:avLst/>
          </a:prstGeom>
          <a:noFill/>
        </p:spPr>
        <p:txBody>
          <a:bodyPr wrap="square" lIns="18288" tIns="9144" rIns="18288" bIns="9144">
            <a:spAutoFit/>
          </a:bodyPr>
          <a:lstStyle/>
          <a:p>
            <a:pPr algn="l">
              <a:defRPr sz="1100" b="1">
                <a:solidFill>
                  <a:srgbClr val="B14E46"/>
                </a:solidFill>
                <a:latin typeface="Aptos"/>
              </a:defRPr>
            </a:pPr>
            <a:r>
              <a:t>Precision = 2.98% → many false positives.</a:t>
            </a:r>
          </a:p>
        </p:txBody>
      </p:sp>
      <p:sp>
        <p:nvSpPr>
          <p:cNvPr id="47" name="TextBox 46"/>
          <p:cNvSpPr txBox="1"/>
          <p:nvPr/>
        </p:nvSpPr>
        <p:spPr>
          <a:xfrm>
            <a:off x="6876288" y="4919472"/>
            <a:ext cx="3749039" cy="320040"/>
          </a:xfrm>
          <a:prstGeom prst="rect">
            <a:avLst/>
          </a:prstGeom>
          <a:noFill/>
        </p:spPr>
        <p:txBody>
          <a:bodyPr wrap="square" lIns="18288" tIns="9144" rIns="18288" bIns="9144">
            <a:spAutoFit/>
          </a:bodyPr>
          <a:lstStyle/>
          <a:p>
            <a:pPr algn="l">
              <a:defRPr sz="1050" b="0">
                <a:solidFill>
                  <a:srgbClr val="656D71"/>
                </a:solidFill>
                <a:latin typeface="Aptos"/>
              </a:defRPr>
            </a:pPr>
            <a:r>
              <a:t>Use as a prioritization tool, not an automatic safety classifier.</a:t>
            </a:r>
          </a:p>
        </p:txBody>
      </p:sp>
      <p:sp>
        <p:nvSpPr>
          <p:cNvPr id="48" name="TextBox 47"/>
          <p:cNvSpPr txBox="1"/>
          <p:nvPr/>
        </p:nvSpPr>
        <p:spPr>
          <a:xfrm>
            <a:off x="868680" y="5715000"/>
            <a:ext cx="914400" cy="228600"/>
          </a:xfrm>
          <a:prstGeom prst="rect">
            <a:avLst/>
          </a:prstGeom>
          <a:noFill/>
        </p:spPr>
        <p:txBody>
          <a:bodyPr wrap="square" lIns="18288" tIns="9144" rIns="18288" bIns="9144">
            <a:spAutoFit/>
          </a:bodyPr>
          <a:lstStyle/>
          <a:p>
            <a:pPr algn="l">
              <a:defRPr sz="900" b="1">
                <a:solidFill>
                  <a:srgbClr val="386952"/>
                </a:solidFill>
                <a:latin typeface="Aptos"/>
              </a:defRPr>
            </a:pPr>
            <a:r>
              <a:t>Key result</a:t>
            </a:r>
          </a:p>
        </p:txBody>
      </p:sp>
      <p:sp>
        <p:nvSpPr>
          <p:cNvPr id="49" name="TextBox 48"/>
          <p:cNvSpPr txBox="1"/>
          <p:nvPr/>
        </p:nvSpPr>
        <p:spPr>
          <a:xfrm>
            <a:off x="1783080" y="5660136"/>
            <a:ext cx="9052560" cy="320040"/>
          </a:xfrm>
          <a:prstGeom prst="rect">
            <a:avLst/>
          </a:prstGeom>
          <a:noFill/>
        </p:spPr>
        <p:txBody>
          <a:bodyPr wrap="square" lIns="18288" tIns="9144" rIns="18288" bIns="9144">
            <a:spAutoFit/>
          </a:bodyPr>
          <a:lstStyle/>
          <a:p>
            <a:pPr algn="l">
              <a:defRPr sz="1250" b="1">
                <a:solidFill>
                  <a:srgbClr val="182F3D"/>
                </a:solidFill>
                <a:latin typeface="Aptos"/>
              </a:defRPr>
            </a:pPr>
            <a:r>
              <a:t>9 of 14 adverse test samples were captured by focusing attention on 302 of 1,717 samples.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08 · TABLEAU</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Dashboard — Complete Decision Story</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A clean presentation view of the live Tableau story: KPIs → product risk → monthly trend → ML prioritization.</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09</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 y="1298448"/>
            <a:ext cx="1920240" cy="8229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417319"/>
            <a:ext cx="1700784" cy="365760"/>
          </a:xfrm>
          <a:prstGeom prst="rect">
            <a:avLst/>
          </a:prstGeom>
          <a:noFill/>
        </p:spPr>
        <p:txBody>
          <a:bodyPr wrap="square" lIns="18288" tIns="9144" rIns="18288" bIns="9144">
            <a:spAutoFit/>
          </a:bodyPr>
          <a:lstStyle/>
          <a:p>
            <a:pPr algn="ctr">
              <a:defRPr sz="2400" b="1">
                <a:solidFill>
                  <a:srgbClr val="386952"/>
                </a:solidFill>
                <a:latin typeface="Aptos"/>
              </a:defRPr>
            </a:pPr>
            <a:r>
              <a:t>8,582</a:t>
            </a:r>
          </a:p>
        </p:txBody>
      </p:sp>
      <p:sp>
        <p:nvSpPr>
          <p:cNvPr id="10" name="TextBox 9"/>
          <p:cNvSpPr txBox="1"/>
          <p:nvPr/>
        </p:nvSpPr>
        <p:spPr>
          <a:xfrm>
            <a:off x="731520" y="1828800"/>
            <a:ext cx="1700784" cy="256032"/>
          </a:xfrm>
          <a:prstGeom prst="rect">
            <a:avLst/>
          </a:prstGeom>
          <a:noFill/>
        </p:spPr>
        <p:txBody>
          <a:bodyPr wrap="square" lIns="18288" tIns="9144" rIns="18288" bIns="9144">
            <a:spAutoFit/>
          </a:bodyPr>
          <a:lstStyle/>
          <a:p>
            <a:pPr algn="ctr">
              <a:defRPr sz="1000" b="1">
                <a:solidFill>
                  <a:srgbClr val="182F3D"/>
                </a:solidFill>
                <a:latin typeface="Aptos"/>
              </a:defRPr>
            </a:pPr>
            <a:r>
              <a:t>Total samples</a:t>
            </a:r>
          </a:p>
        </p:txBody>
      </p:sp>
      <p:sp>
        <p:nvSpPr>
          <p:cNvPr id="11" name="Rounded Rectangle 10"/>
          <p:cNvSpPr/>
          <p:nvPr/>
        </p:nvSpPr>
        <p:spPr>
          <a:xfrm>
            <a:off x="2862072" y="1298448"/>
            <a:ext cx="1920240" cy="8229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71800" y="1417319"/>
            <a:ext cx="1700784" cy="365760"/>
          </a:xfrm>
          <a:prstGeom prst="rect">
            <a:avLst/>
          </a:prstGeom>
          <a:noFill/>
        </p:spPr>
        <p:txBody>
          <a:bodyPr wrap="square" lIns="18288" tIns="9144" rIns="18288" bIns="9144">
            <a:spAutoFit/>
          </a:bodyPr>
          <a:lstStyle/>
          <a:p>
            <a:pPr algn="ctr">
              <a:defRPr sz="2400" b="1">
                <a:solidFill>
                  <a:srgbClr val="B14E46"/>
                </a:solidFill>
                <a:latin typeface="Aptos"/>
              </a:defRPr>
            </a:pPr>
            <a:r>
              <a:t>71</a:t>
            </a:r>
          </a:p>
        </p:txBody>
      </p:sp>
      <p:sp>
        <p:nvSpPr>
          <p:cNvPr id="13" name="TextBox 12"/>
          <p:cNvSpPr txBox="1"/>
          <p:nvPr/>
        </p:nvSpPr>
        <p:spPr>
          <a:xfrm>
            <a:off x="2971800" y="1828800"/>
            <a:ext cx="1700784" cy="256032"/>
          </a:xfrm>
          <a:prstGeom prst="rect">
            <a:avLst/>
          </a:prstGeom>
          <a:noFill/>
        </p:spPr>
        <p:txBody>
          <a:bodyPr wrap="square" lIns="18288" tIns="9144" rIns="18288" bIns="9144">
            <a:spAutoFit/>
          </a:bodyPr>
          <a:lstStyle/>
          <a:p>
            <a:pPr algn="ctr">
              <a:defRPr sz="1000" b="1">
                <a:solidFill>
                  <a:srgbClr val="182F3D"/>
                </a:solidFill>
                <a:latin typeface="Aptos"/>
              </a:defRPr>
            </a:pPr>
            <a:r>
              <a:t>Adverse samples</a:t>
            </a:r>
          </a:p>
        </p:txBody>
      </p:sp>
      <p:sp>
        <p:nvSpPr>
          <p:cNvPr id="14" name="Rounded Rectangle 13"/>
          <p:cNvSpPr/>
          <p:nvPr/>
        </p:nvSpPr>
        <p:spPr>
          <a:xfrm>
            <a:off x="5102352" y="1298448"/>
            <a:ext cx="1920240" cy="8229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80" y="1417319"/>
            <a:ext cx="1700784" cy="365760"/>
          </a:xfrm>
          <a:prstGeom prst="rect">
            <a:avLst/>
          </a:prstGeom>
          <a:noFill/>
        </p:spPr>
        <p:txBody>
          <a:bodyPr wrap="square" lIns="18288" tIns="9144" rIns="18288" bIns="9144">
            <a:spAutoFit/>
          </a:bodyPr>
          <a:lstStyle/>
          <a:p>
            <a:pPr algn="ctr">
              <a:defRPr sz="2400" b="1">
                <a:solidFill>
                  <a:srgbClr val="C58B43"/>
                </a:solidFill>
                <a:latin typeface="Aptos"/>
              </a:defRPr>
            </a:pPr>
            <a:r>
              <a:t>0.83%</a:t>
            </a:r>
          </a:p>
        </p:txBody>
      </p:sp>
      <p:sp>
        <p:nvSpPr>
          <p:cNvPr id="16" name="TextBox 15"/>
          <p:cNvSpPr txBox="1"/>
          <p:nvPr/>
        </p:nvSpPr>
        <p:spPr>
          <a:xfrm>
            <a:off x="5212080" y="1828800"/>
            <a:ext cx="1700784" cy="256032"/>
          </a:xfrm>
          <a:prstGeom prst="rect">
            <a:avLst/>
          </a:prstGeom>
          <a:noFill/>
        </p:spPr>
        <p:txBody>
          <a:bodyPr wrap="square" lIns="18288" tIns="9144" rIns="18288" bIns="9144">
            <a:spAutoFit/>
          </a:bodyPr>
          <a:lstStyle/>
          <a:p>
            <a:pPr algn="ctr">
              <a:defRPr sz="1000" b="1">
                <a:solidFill>
                  <a:srgbClr val="182F3D"/>
                </a:solidFill>
                <a:latin typeface="Aptos"/>
              </a:defRPr>
            </a:pPr>
            <a:r>
              <a:t>Adverse rate</a:t>
            </a:r>
          </a:p>
        </p:txBody>
      </p:sp>
      <p:sp>
        <p:nvSpPr>
          <p:cNvPr id="17" name="Rounded Rectangle 16"/>
          <p:cNvSpPr/>
          <p:nvPr/>
        </p:nvSpPr>
        <p:spPr>
          <a:xfrm>
            <a:off x="7342632" y="1298448"/>
            <a:ext cx="1920240" cy="8229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52360" y="1417319"/>
            <a:ext cx="1700784" cy="365760"/>
          </a:xfrm>
          <a:prstGeom prst="rect">
            <a:avLst/>
          </a:prstGeom>
          <a:noFill/>
        </p:spPr>
        <p:txBody>
          <a:bodyPr wrap="square" lIns="18288" tIns="9144" rIns="18288" bIns="9144">
            <a:spAutoFit/>
          </a:bodyPr>
          <a:lstStyle/>
          <a:p>
            <a:pPr algn="ctr">
              <a:defRPr sz="2400" b="1">
                <a:solidFill>
                  <a:srgbClr val="386952"/>
                </a:solidFill>
                <a:latin typeface="Aptos"/>
              </a:defRPr>
            </a:pPr>
            <a:r>
              <a:t>64.3%</a:t>
            </a:r>
          </a:p>
        </p:txBody>
      </p:sp>
      <p:sp>
        <p:nvSpPr>
          <p:cNvPr id="19" name="TextBox 18"/>
          <p:cNvSpPr txBox="1"/>
          <p:nvPr/>
        </p:nvSpPr>
        <p:spPr>
          <a:xfrm>
            <a:off x="7452360" y="1828800"/>
            <a:ext cx="1700784" cy="256032"/>
          </a:xfrm>
          <a:prstGeom prst="rect">
            <a:avLst/>
          </a:prstGeom>
          <a:noFill/>
        </p:spPr>
        <p:txBody>
          <a:bodyPr wrap="square" lIns="18288" tIns="9144" rIns="18288" bIns="9144">
            <a:spAutoFit/>
          </a:bodyPr>
          <a:lstStyle/>
          <a:p>
            <a:pPr algn="ctr">
              <a:defRPr sz="1000" b="1">
                <a:solidFill>
                  <a:srgbClr val="182F3D"/>
                </a:solidFill>
                <a:latin typeface="Aptos"/>
              </a:defRPr>
            </a:pPr>
            <a:r>
              <a:t>Model recall</a:t>
            </a:r>
          </a:p>
        </p:txBody>
      </p:sp>
      <p:sp>
        <p:nvSpPr>
          <p:cNvPr id="20" name="Rounded Rectangle 19"/>
          <p:cNvSpPr/>
          <p:nvPr/>
        </p:nvSpPr>
        <p:spPr>
          <a:xfrm>
            <a:off x="9582912" y="1298448"/>
            <a:ext cx="1920240" cy="8229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92640" y="1417319"/>
            <a:ext cx="1700784" cy="365760"/>
          </a:xfrm>
          <a:prstGeom prst="rect">
            <a:avLst/>
          </a:prstGeom>
          <a:noFill/>
        </p:spPr>
        <p:txBody>
          <a:bodyPr wrap="square" lIns="18288" tIns="9144" rIns="18288" bIns="9144">
            <a:spAutoFit/>
          </a:bodyPr>
          <a:lstStyle/>
          <a:p>
            <a:pPr algn="ctr">
              <a:defRPr sz="2400" b="1">
                <a:solidFill>
                  <a:srgbClr val="466F91"/>
                </a:solidFill>
                <a:latin typeface="Aptos"/>
              </a:defRPr>
            </a:pPr>
            <a:r>
              <a:t>17.6%</a:t>
            </a:r>
          </a:p>
        </p:txBody>
      </p:sp>
      <p:sp>
        <p:nvSpPr>
          <p:cNvPr id="22" name="TextBox 21"/>
          <p:cNvSpPr txBox="1"/>
          <p:nvPr/>
        </p:nvSpPr>
        <p:spPr>
          <a:xfrm>
            <a:off x="9692640" y="1828800"/>
            <a:ext cx="1700784" cy="256032"/>
          </a:xfrm>
          <a:prstGeom prst="rect">
            <a:avLst/>
          </a:prstGeom>
          <a:noFill/>
        </p:spPr>
        <p:txBody>
          <a:bodyPr wrap="square" lIns="18288" tIns="9144" rIns="18288" bIns="9144">
            <a:spAutoFit/>
          </a:bodyPr>
          <a:lstStyle/>
          <a:p>
            <a:pPr algn="ctr">
              <a:defRPr sz="1000" b="1">
                <a:solidFill>
                  <a:srgbClr val="182F3D"/>
                </a:solidFill>
                <a:latin typeface="Aptos"/>
              </a:defRPr>
            </a:pPr>
            <a:r>
              <a:t>Flagged</a:t>
            </a:r>
          </a:p>
        </p:txBody>
      </p:sp>
      <p:sp>
        <p:nvSpPr>
          <p:cNvPr id="23" name="Rounded Rectangle 22"/>
          <p:cNvSpPr/>
          <p:nvPr/>
        </p:nvSpPr>
        <p:spPr>
          <a:xfrm>
            <a:off x="621792" y="2395728"/>
            <a:ext cx="5349240" cy="182880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2633472"/>
            <a:ext cx="2286000" cy="228600"/>
          </a:xfrm>
          <a:prstGeom prst="rect">
            <a:avLst/>
          </a:prstGeom>
          <a:noFill/>
        </p:spPr>
        <p:txBody>
          <a:bodyPr wrap="square" lIns="18288" tIns="9144" rIns="18288" bIns="9144">
            <a:spAutoFit/>
          </a:bodyPr>
          <a:lstStyle/>
          <a:p>
            <a:pPr algn="l">
              <a:defRPr sz="1200" b="1">
                <a:solidFill>
                  <a:srgbClr val="182F3D"/>
                </a:solidFill>
                <a:latin typeface="Aptos"/>
              </a:defRPr>
            </a:pPr>
            <a:r>
              <a:t>Risk by Product Group</a:t>
            </a:r>
          </a:p>
        </p:txBody>
      </p:sp>
      <p:sp>
        <p:nvSpPr>
          <p:cNvPr id="25" name="TextBox 24"/>
          <p:cNvSpPr txBox="1"/>
          <p:nvPr/>
        </p:nvSpPr>
        <p:spPr>
          <a:xfrm>
            <a:off x="868680" y="301752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Spices</a:t>
            </a:r>
          </a:p>
        </p:txBody>
      </p:sp>
      <p:sp>
        <p:nvSpPr>
          <p:cNvPr id="26" name="Rectangle 25"/>
          <p:cNvSpPr/>
          <p:nvPr/>
        </p:nvSpPr>
        <p:spPr>
          <a:xfrm>
            <a:off x="4023360" y="3063239"/>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23360" y="3063239"/>
            <a:ext cx="838962" cy="118872"/>
          </a:xfrm>
          <a:prstGeom prst="rect">
            <a:avLst/>
          </a:prstGeom>
          <a:solidFill>
            <a:srgbClr val="B14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83480" y="2999232"/>
            <a:ext cx="594360" cy="219456"/>
          </a:xfrm>
          <a:prstGeom prst="rect">
            <a:avLst/>
          </a:prstGeom>
          <a:noFill/>
        </p:spPr>
        <p:txBody>
          <a:bodyPr wrap="square" lIns="18288" tIns="9144" rIns="18288" bIns="9144">
            <a:spAutoFit/>
          </a:bodyPr>
          <a:lstStyle/>
          <a:p>
            <a:pPr algn="r">
              <a:defRPr sz="1019" b="1">
                <a:solidFill>
                  <a:srgbClr val="B14E46"/>
                </a:solidFill>
                <a:latin typeface="Aptos"/>
              </a:defRPr>
            </a:pPr>
            <a:r>
              <a:t>3.67%</a:t>
            </a:r>
          </a:p>
        </p:txBody>
      </p:sp>
      <p:sp>
        <p:nvSpPr>
          <p:cNvPr id="29" name="TextBox 28"/>
          <p:cNvSpPr txBox="1"/>
          <p:nvPr/>
        </p:nvSpPr>
        <p:spPr>
          <a:xfrm>
            <a:off x="868680" y="3319272"/>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Legumes / Oilseeds / Nuts</a:t>
            </a:r>
          </a:p>
        </p:txBody>
      </p:sp>
      <p:sp>
        <p:nvSpPr>
          <p:cNvPr id="30" name="Rectangle 29"/>
          <p:cNvSpPr/>
          <p:nvPr/>
        </p:nvSpPr>
        <p:spPr>
          <a:xfrm>
            <a:off x="4023360" y="3364991"/>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023360" y="3364991"/>
            <a:ext cx="372618"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83480" y="3300984"/>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1.63%</a:t>
            </a:r>
          </a:p>
        </p:txBody>
      </p:sp>
      <p:sp>
        <p:nvSpPr>
          <p:cNvPr id="33" name="TextBox 32"/>
          <p:cNvSpPr txBox="1"/>
          <p:nvPr/>
        </p:nvSpPr>
        <p:spPr>
          <a:xfrm>
            <a:off x="868680" y="3621024"/>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Meat</a:t>
            </a:r>
          </a:p>
        </p:txBody>
      </p:sp>
      <p:sp>
        <p:nvSpPr>
          <p:cNvPr id="34" name="Rectangle 33"/>
          <p:cNvSpPr/>
          <p:nvPr/>
        </p:nvSpPr>
        <p:spPr>
          <a:xfrm>
            <a:off x="4023360" y="3666744"/>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023360" y="3666744"/>
            <a:ext cx="326898"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83480" y="3602736"/>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1.43%</a:t>
            </a:r>
          </a:p>
        </p:txBody>
      </p:sp>
      <p:sp>
        <p:nvSpPr>
          <p:cNvPr id="37" name="TextBox 36"/>
          <p:cNvSpPr txBox="1"/>
          <p:nvPr/>
        </p:nvSpPr>
        <p:spPr>
          <a:xfrm>
            <a:off x="868680" y="3922776"/>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Fresh fruit</a:t>
            </a:r>
          </a:p>
        </p:txBody>
      </p:sp>
      <p:sp>
        <p:nvSpPr>
          <p:cNvPr id="38" name="Rectangle 37"/>
          <p:cNvSpPr/>
          <p:nvPr/>
        </p:nvSpPr>
        <p:spPr>
          <a:xfrm>
            <a:off x="4023360" y="3968496"/>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023360" y="3968496"/>
            <a:ext cx="226314"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80" y="3904488"/>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0.99%</a:t>
            </a:r>
          </a:p>
        </p:txBody>
      </p:sp>
      <p:sp>
        <p:nvSpPr>
          <p:cNvPr id="41" name="Rounded Rectangle 40"/>
          <p:cNvSpPr/>
          <p:nvPr/>
        </p:nvSpPr>
        <p:spPr>
          <a:xfrm>
            <a:off x="6199632" y="2395728"/>
            <a:ext cx="5349240" cy="182880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46520" y="2633472"/>
            <a:ext cx="2468880" cy="228600"/>
          </a:xfrm>
          <a:prstGeom prst="rect">
            <a:avLst/>
          </a:prstGeom>
          <a:noFill/>
        </p:spPr>
        <p:txBody>
          <a:bodyPr wrap="square" lIns="18288" tIns="9144" rIns="18288" bIns="9144">
            <a:spAutoFit/>
          </a:bodyPr>
          <a:lstStyle/>
          <a:p>
            <a:pPr algn="l">
              <a:defRPr sz="1200" b="1">
                <a:solidFill>
                  <a:srgbClr val="182F3D"/>
                </a:solidFill>
                <a:latin typeface="Aptos"/>
              </a:defRPr>
            </a:pPr>
            <a:r>
              <a:t>Risk by Specific Product</a:t>
            </a:r>
          </a:p>
        </p:txBody>
      </p:sp>
      <p:sp>
        <p:nvSpPr>
          <p:cNvPr id="43" name="TextBox 42"/>
          <p:cNvSpPr txBox="1"/>
          <p:nvPr/>
        </p:nvSpPr>
        <p:spPr>
          <a:xfrm>
            <a:off x="6446520" y="3017520"/>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Frozen sour cherry</a:t>
            </a:r>
          </a:p>
        </p:txBody>
      </p:sp>
      <p:sp>
        <p:nvSpPr>
          <p:cNvPr id="44" name="Rectangle 43"/>
          <p:cNvSpPr/>
          <p:nvPr/>
        </p:nvSpPr>
        <p:spPr>
          <a:xfrm>
            <a:off x="9601200" y="3063239"/>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601200" y="3063239"/>
            <a:ext cx="879230" cy="118872"/>
          </a:xfrm>
          <a:prstGeom prst="rect">
            <a:avLst/>
          </a:prstGeom>
          <a:solidFill>
            <a:srgbClr val="B14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561319" y="2999232"/>
            <a:ext cx="594360" cy="219456"/>
          </a:xfrm>
          <a:prstGeom prst="rect">
            <a:avLst/>
          </a:prstGeom>
          <a:noFill/>
        </p:spPr>
        <p:txBody>
          <a:bodyPr wrap="square" lIns="18288" tIns="9144" rIns="18288" bIns="9144">
            <a:spAutoFit/>
          </a:bodyPr>
          <a:lstStyle/>
          <a:p>
            <a:pPr algn="r">
              <a:defRPr sz="1019" b="1">
                <a:solidFill>
                  <a:srgbClr val="B14E46"/>
                </a:solidFill>
                <a:latin typeface="Aptos"/>
              </a:defRPr>
            </a:pPr>
            <a:r>
              <a:t>12.50%</a:t>
            </a:r>
          </a:p>
        </p:txBody>
      </p:sp>
      <p:sp>
        <p:nvSpPr>
          <p:cNvPr id="47" name="TextBox 46"/>
          <p:cNvSpPr txBox="1"/>
          <p:nvPr/>
        </p:nvSpPr>
        <p:spPr>
          <a:xfrm>
            <a:off x="6446520" y="3319272"/>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Roasted peanuts</a:t>
            </a:r>
          </a:p>
        </p:txBody>
      </p:sp>
      <p:sp>
        <p:nvSpPr>
          <p:cNvPr id="48" name="Rectangle 47"/>
          <p:cNvSpPr/>
          <p:nvPr/>
        </p:nvSpPr>
        <p:spPr>
          <a:xfrm>
            <a:off x="9601200" y="3364991"/>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601200" y="3364991"/>
            <a:ext cx="256032"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561319" y="3300984"/>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3.64%</a:t>
            </a:r>
          </a:p>
        </p:txBody>
      </p:sp>
      <p:sp>
        <p:nvSpPr>
          <p:cNvPr id="51" name="TextBox 50"/>
          <p:cNvSpPr txBox="1"/>
          <p:nvPr/>
        </p:nvSpPr>
        <p:spPr>
          <a:xfrm>
            <a:off x="6446520" y="3621024"/>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Sweet cherry</a:t>
            </a:r>
          </a:p>
        </p:txBody>
      </p:sp>
      <p:sp>
        <p:nvSpPr>
          <p:cNvPr id="52" name="Rectangle 51"/>
          <p:cNvSpPr/>
          <p:nvPr/>
        </p:nvSpPr>
        <p:spPr>
          <a:xfrm>
            <a:off x="9601200" y="3666744"/>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601200" y="3666744"/>
            <a:ext cx="234227"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561319" y="3602736"/>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3.33%</a:t>
            </a:r>
          </a:p>
        </p:txBody>
      </p:sp>
      <p:sp>
        <p:nvSpPr>
          <p:cNvPr id="55" name="TextBox 54"/>
          <p:cNvSpPr txBox="1"/>
          <p:nvPr/>
        </p:nvSpPr>
        <p:spPr>
          <a:xfrm>
            <a:off x="6446520" y="3922776"/>
            <a:ext cx="3063240" cy="219456"/>
          </a:xfrm>
          <a:prstGeom prst="rect">
            <a:avLst/>
          </a:prstGeom>
          <a:noFill/>
        </p:spPr>
        <p:txBody>
          <a:bodyPr wrap="square" lIns="18288" tIns="9144" rIns="18288" bIns="9144">
            <a:spAutoFit/>
          </a:bodyPr>
          <a:lstStyle/>
          <a:p>
            <a:pPr algn="l">
              <a:defRPr sz="1019" b="0">
                <a:solidFill>
                  <a:srgbClr val="282F32"/>
                </a:solidFill>
                <a:latin typeface="Aptos"/>
              </a:defRPr>
            </a:pPr>
            <a:r>
              <a:t>Black pepper</a:t>
            </a:r>
          </a:p>
        </p:txBody>
      </p:sp>
      <p:sp>
        <p:nvSpPr>
          <p:cNvPr id="56" name="Rectangle 55"/>
          <p:cNvSpPr/>
          <p:nvPr/>
        </p:nvSpPr>
        <p:spPr>
          <a:xfrm>
            <a:off x="9601200" y="3968496"/>
            <a:ext cx="914400" cy="1188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601200" y="3968496"/>
            <a:ext cx="216642" cy="118872"/>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561319" y="3904488"/>
            <a:ext cx="594360" cy="219456"/>
          </a:xfrm>
          <a:prstGeom prst="rect">
            <a:avLst/>
          </a:prstGeom>
          <a:noFill/>
        </p:spPr>
        <p:txBody>
          <a:bodyPr wrap="square" lIns="18288" tIns="9144" rIns="18288" bIns="9144">
            <a:spAutoFit/>
          </a:bodyPr>
          <a:lstStyle/>
          <a:p>
            <a:pPr algn="r">
              <a:defRPr sz="1019" b="1">
                <a:solidFill>
                  <a:srgbClr val="C58B43"/>
                </a:solidFill>
                <a:latin typeface="Aptos"/>
              </a:defRPr>
            </a:pPr>
            <a:r>
              <a:t>3.08%</a:t>
            </a:r>
          </a:p>
        </p:txBody>
      </p:sp>
      <p:sp>
        <p:nvSpPr>
          <p:cNvPr id="59" name="Rounded Rectangle 58"/>
          <p:cNvSpPr/>
          <p:nvPr/>
        </p:nvSpPr>
        <p:spPr>
          <a:xfrm>
            <a:off x="621792" y="4480560"/>
            <a:ext cx="7040880" cy="164592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68680" y="4681728"/>
            <a:ext cx="2103120" cy="228600"/>
          </a:xfrm>
          <a:prstGeom prst="rect">
            <a:avLst/>
          </a:prstGeom>
          <a:noFill/>
        </p:spPr>
        <p:txBody>
          <a:bodyPr wrap="square" lIns="18288" tIns="9144" rIns="18288" bIns="9144">
            <a:spAutoFit/>
          </a:bodyPr>
          <a:lstStyle/>
          <a:p>
            <a:pPr algn="l">
              <a:defRPr sz="1200" b="1">
                <a:solidFill>
                  <a:srgbClr val="182F3D"/>
                </a:solidFill>
                <a:latin typeface="Aptos"/>
              </a:defRPr>
            </a:pPr>
            <a:r>
              <a:t>Monthly Risk Trend</a:t>
            </a:r>
          </a:p>
        </p:txBody>
      </p:sp>
      <p:sp>
        <p:nvSpPr>
          <p:cNvPr id="61" name="Rectangle 60"/>
          <p:cNvSpPr/>
          <p:nvPr/>
        </p:nvSpPr>
        <p:spPr>
          <a:xfrm>
            <a:off x="914400" y="5376672"/>
            <a:ext cx="6263640" cy="13716"/>
          </a:xfrm>
          <a:prstGeom prst="rect">
            <a:avLst/>
          </a:prstGeom>
          <a:solidFill>
            <a:srgbClr val="C58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989320" y="5184648"/>
            <a:ext cx="1097280" cy="182880"/>
          </a:xfrm>
          <a:prstGeom prst="rect">
            <a:avLst/>
          </a:prstGeom>
          <a:noFill/>
        </p:spPr>
        <p:txBody>
          <a:bodyPr wrap="square" lIns="18288" tIns="9144" rIns="18288" bIns="9144">
            <a:spAutoFit/>
          </a:bodyPr>
          <a:lstStyle/>
          <a:p>
            <a:pPr algn="r">
              <a:defRPr sz="750" b="1">
                <a:solidFill>
                  <a:srgbClr val="C58B43"/>
                </a:solidFill>
                <a:latin typeface="Aptos"/>
              </a:defRPr>
            </a:pPr>
            <a:r>
              <a:t>0.83% benchmark</a:t>
            </a:r>
          </a:p>
        </p:txBody>
      </p:sp>
      <p:sp>
        <p:nvSpPr>
          <p:cNvPr id="63" name="TextBox 62"/>
          <p:cNvSpPr txBox="1"/>
          <p:nvPr/>
        </p:nvSpPr>
        <p:spPr>
          <a:xfrm>
            <a:off x="91440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Jan</a:t>
            </a:r>
          </a:p>
        </p:txBody>
      </p:sp>
      <p:sp>
        <p:nvSpPr>
          <p:cNvPr id="64" name="TextBox 63"/>
          <p:cNvSpPr txBox="1"/>
          <p:nvPr/>
        </p:nvSpPr>
        <p:spPr>
          <a:xfrm>
            <a:off x="143637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Feb</a:t>
            </a:r>
          </a:p>
        </p:txBody>
      </p:sp>
      <p:sp>
        <p:nvSpPr>
          <p:cNvPr id="65" name="TextBox 64"/>
          <p:cNvSpPr txBox="1"/>
          <p:nvPr/>
        </p:nvSpPr>
        <p:spPr>
          <a:xfrm>
            <a:off x="195834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Mar</a:t>
            </a:r>
          </a:p>
        </p:txBody>
      </p:sp>
      <p:sp>
        <p:nvSpPr>
          <p:cNvPr id="66" name="TextBox 65"/>
          <p:cNvSpPr txBox="1"/>
          <p:nvPr/>
        </p:nvSpPr>
        <p:spPr>
          <a:xfrm>
            <a:off x="248031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Apr</a:t>
            </a:r>
          </a:p>
        </p:txBody>
      </p:sp>
      <p:sp>
        <p:nvSpPr>
          <p:cNvPr id="67" name="TextBox 66"/>
          <p:cNvSpPr txBox="1"/>
          <p:nvPr/>
        </p:nvSpPr>
        <p:spPr>
          <a:xfrm>
            <a:off x="300228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May</a:t>
            </a:r>
          </a:p>
        </p:txBody>
      </p:sp>
      <p:sp>
        <p:nvSpPr>
          <p:cNvPr id="68" name="TextBox 67"/>
          <p:cNvSpPr txBox="1"/>
          <p:nvPr/>
        </p:nvSpPr>
        <p:spPr>
          <a:xfrm>
            <a:off x="352425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Jun</a:t>
            </a:r>
          </a:p>
        </p:txBody>
      </p:sp>
      <p:sp>
        <p:nvSpPr>
          <p:cNvPr id="69" name="TextBox 68"/>
          <p:cNvSpPr txBox="1"/>
          <p:nvPr/>
        </p:nvSpPr>
        <p:spPr>
          <a:xfrm>
            <a:off x="404622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Jul</a:t>
            </a:r>
          </a:p>
        </p:txBody>
      </p:sp>
      <p:sp>
        <p:nvSpPr>
          <p:cNvPr id="70" name="TextBox 69"/>
          <p:cNvSpPr txBox="1"/>
          <p:nvPr/>
        </p:nvSpPr>
        <p:spPr>
          <a:xfrm>
            <a:off x="456819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Aug</a:t>
            </a:r>
          </a:p>
        </p:txBody>
      </p:sp>
      <p:sp>
        <p:nvSpPr>
          <p:cNvPr id="71" name="TextBox 70"/>
          <p:cNvSpPr txBox="1"/>
          <p:nvPr/>
        </p:nvSpPr>
        <p:spPr>
          <a:xfrm>
            <a:off x="509016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Sep</a:t>
            </a:r>
          </a:p>
        </p:txBody>
      </p:sp>
      <p:sp>
        <p:nvSpPr>
          <p:cNvPr id="72" name="TextBox 71"/>
          <p:cNvSpPr txBox="1"/>
          <p:nvPr/>
        </p:nvSpPr>
        <p:spPr>
          <a:xfrm>
            <a:off x="5612129"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Oct</a:t>
            </a:r>
          </a:p>
        </p:txBody>
      </p:sp>
      <p:sp>
        <p:nvSpPr>
          <p:cNvPr id="73" name="TextBox 72"/>
          <p:cNvSpPr txBox="1"/>
          <p:nvPr/>
        </p:nvSpPr>
        <p:spPr>
          <a:xfrm>
            <a:off x="613410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Nov</a:t>
            </a:r>
          </a:p>
        </p:txBody>
      </p:sp>
      <p:sp>
        <p:nvSpPr>
          <p:cNvPr id="74" name="TextBox 73"/>
          <p:cNvSpPr txBox="1"/>
          <p:nvPr/>
        </p:nvSpPr>
        <p:spPr>
          <a:xfrm>
            <a:off x="6656070" y="5824728"/>
            <a:ext cx="411480" cy="182880"/>
          </a:xfrm>
          <a:prstGeom prst="rect">
            <a:avLst/>
          </a:prstGeom>
          <a:noFill/>
        </p:spPr>
        <p:txBody>
          <a:bodyPr wrap="square" lIns="18288" tIns="9144" rIns="18288" bIns="9144">
            <a:spAutoFit/>
          </a:bodyPr>
          <a:lstStyle/>
          <a:p>
            <a:pPr algn="ctr">
              <a:defRPr sz="700" b="0">
                <a:solidFill>
                  <a:srgbClr val="656D71"/>
                </a:solidFill>
                <a:latin typeface="Aptos"/>
              </a:defRPr>
            </a:pPr>
            <a:r>
              <a:t>Dec</a:t>
            </a:r>
          </a:p>
        </p:txBody>
      </p:sp>
      <p:cxnSp>
        <p:nvCxnSpPr>
          <p:cNvPr id="75" name="Connector 74"/>
          <p:cNvCxnSpPr/>
          <p:nvPr/>
        </p:nvCxnSpPr>
        <p:spPr>
          <a:xfrm flipV="1">
            <a:off x="914400" y="5328666"/>
            <a:ext cx="569421" cy="89154"/>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483821" y="5328666"/>
            <a:ext cx="569422" cy="68580"/>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053243" y="5397246"/>
            <a:ext cx="569422" cy="68580"/>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622665" y="5465826"/>
            <a:ext cx="569422" cy="0"/>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192087" y="5246370"/>
            <a:ext cx="569422" cy="219456"/>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761509" y="5246370"/>
            <a:ext cx="569421" cy="137160"/>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330930" y="5383530"/>
            <a:ext cx="569422" cy="82296"/>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00352" y="5465826"/>
            <a:ext cx="569422" cy="0"/>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469774" y="5294376"/>
            <a:ext cx="569422" cy="171450"/>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039196" y="5294376"/>
            <a:ext cx="569422" cy="212598"/>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608618" y="5404104"/>
            <a:ext cx="569422" cy="102870"/>
          </a:xfrm>
          <a:prstGeom prst="line">
            <a:avLst/>
          </a:prstGeom>
          <a:ln w="19050">
            <a:solidFill>
              <a:srgbClr val="466F91"/>
            </a:solidFill>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882396" y="5385816"/>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1451817" y="5296662"/>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021239" y="5365242"/>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2590661" y="5433822"/>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3160083" y="5433822"/>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3729505" y="5214366"/>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4298926" y="5351526"/>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4868348" y="5433822"/>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5437770" y="5433822"/>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6007192" y="5262372"/>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6576614" y="5474970"/>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146036" y="5372100"/>
            <a:ext cx="64008" cy="64008"/>
          </a:xfrm>
          <a:prstGeom prst="ellipse">
            <a:avLst/>
          </a:prstGeom>
          <a:solidFill>
            <a:srgbClr val="466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14400" y="6007608"/>
            <a:ext cx="6126480" cy="182880"/>
          </a:xfrm>
          <a:prstGeom prst="rect">
            <a:avLst/>
          </a:prstGeom>
          <a:noFill/>
        </p:spPr>
        <p:txBody>
          <a:bodyPr wrap="square" lIns="18288" tIns="9144" rIns="18288" bIns="9144">
            <a:spAutoFit/>
          </a:bodyPr>
          <a:lstStyle/>
          <a:p>
            <a:pPr algn="l">
              <a:defRPr sz="750" b="0">
                <a:solidFill>
                  <a:srgbClr val="656D71"/>
                </a:solidFill>
                <a:latin typeface="Aptos"/>
              </a:defRPr>
            </a:pPr>
            <a:r>
              <a:t>Trend shown for storytelling; exact values remain available in the live Tableau dashboard.</a:t>
            </a:r>
          </a:p>
        </p:txBody>
      </p:sp>
      <p:sp>
        <p:nvSpPr>
          <p:cNvPr id="99" name="Rounded Rectangle 98"/>
          <p:cNvSpPr/>
          <p:nvPr/>
        </p:nvSpPr>
        <p:spPr>
          <a:xfrm>
            <a:off x="7909560" y="4480560"/>
            <a:ext cx="3639312" cy="164592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183879" y="4736592"/>
            <a:ext cx="3017520" cy="228600"/>
          </a:xfrm>
          <a:prstGeom prst="rect">
            <a:avLst/>
          </a:prstGeom>
          <a:noFill/>
        </p:spPr>
        <p:txBody>
          <a:bodyPr wrap="square" lIns="18288" tIns="9144" rIns="18288" bIns="9144">
            <a:spAutoFit/>
          </a:bodyPr>
          <a:lstStyle/>
          <a:p>
            <a:pPr algn="l">
              <a:defRPr sz="1200" b="1">
                <a:solidFill>
                  <a:srgbClr val="386952"/>
                </a:solidFill>
                <a:latin typeface="Aptos"/>
              </a:defRPr>
            </a:pPr>
            <a:r>
              <a:t>Decision-support story</a:t>
            </a:r>
          </a:p>
        </p:txBody>
      </p:sp>
      <p:sp>
        <p:nvSpPr>
          <p:cNvPr id="101" name="TextBox 100"/>
          <p:cNvSpPr txBox="1"/>
          <p:nvPr/>
        </p:nvSpPr>
        <p:spPr>
          <a:xfrm>
            <a:off x="8183879" y="5138928"/>
            <a:ext cx="2926080" cy="822960"/>
          </a:xfrm>
          <a:prstGeom prst="rect">
            <a:avLst/>
          </a:prstGeom>
          <a:noFill/>
        </p:spPr>
        <p:txBody>
          <a:bodyPr wrap="square">
            <a:spAutoFit/>
          </a:bodyPr>
          <a:lstStyle/>
          <a:p>
            <a:pPr>
              <a:spcAft>
                <a:spcPts val="700"/>
              </a:spcAft>
              <a:defRPr sz="950">
                <a:solidFill>
                  <a:srgbClr val="282F32"/>
                </a:solidFill>
                <a:latin typeface="Aptos"/>
              </a:defRPr>
            </a:pPr>
            <a:r>
              <a:t>• Risk concentrates in selected products.</a:t>
            </a:r>
          </a:p>
          <a:p>
            <a:pPr>
              <a:spcAft>
                <a:spcPts val="700"/>
              </a:spcAft>
              <a:defRPr sz="950">
                <a:solidFill>
                  <a:srgbClr val="282F32"/>
                </a:solidFill>
                <a:latin typeface="Aptos"/>
              </a:defRPr>
            </a:pPr>
            <a:r>
              <a:t>• Monthly pattern adds timing context.</a:t>
            </a:r>
          </a:p>
          <a:p>
            <a:pPr>
              <a:spcAft>
                <a:spcPts val="700"/>
              </a:spcAft>
              <a:defRPr sz="950">
                <a:solidFill>
                  <a:srgbClr val="282F32"/>
                </a:solidFill>
                <a:latin typeface="Aptos"/>
              </a:defRPr>
            </a:pPr>
            <a:r>
              <a:t>• ML adds a screening layer.</a:t>
            </a:r>
          </a:p>
        </p:txBody>
      </p:sp>
      <p:sp>
        <p:nvSpPr>
          <p:cNvPr id="102" name="TextBox 101"/>
          <p:cNvSpPr txBox="1"/>
          <p:nvPr/>
        </p:nvSpPr>
        <p:spPr>
          <a:xfrm>
            <a:off x="9646920" y="6153912"/>
            <a:ext cx="1645920" cy="228600"/>
          </a:xfrm>
          <a:prstGeom prst="rect">
            <a:avLst/>
          </a:prstGeom>
          <a:noFill/>
        </p:spPr>
        <p:txBody>
          <a:bodyPr wrap="square" lIns="18288" tIns="9144" rIns="18288" bIns="9144">
            <a:spAutoFit/>
          </a:bodyPr>
          <a:lstStyle/>
          <a:p>
            <a:pPr algn="r">
              <a:defRPr sz="900" b="1">
                <a:solidFill>
                  <a:srgbClr val="466F91"/>
                </a:solidFill>
                <a:latin typeface="Aptos"/>
              </a:defRPr>
            </a:pPr>
            <a:r>
              <a:rPr>
                <a:hlinkClick r:id="rId3"/>
              </a:rPr>
              <a:t>LIVE TABLEAU DEMO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09 · RESPONSIBLE USE</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Recommendations, Strengths &amp; Limitations</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What the project supports — and what it does not.</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10</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1417320"/>
            <a:ext cx="3520440" cy="448056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19072"/>
            <a:ext cx="1828800" cy="228600"/>
          </a:xfrm>
          <a:prstGeom prst="rect">
            <a:avLst/>
          </a:prstGeom>
          <a:noFill/>
        </p:spPr>
        <p:txBody>
          <a:bodyPr wrap="square" lIns="18288" tIns="9144" rIns="18288" bIns="9144">
            <a:spAutoFit/>
          </a:bodyPr>
          <a:lstStyle/>
          <a:p>
            <a:pPr algn="l">
              <a:defRPr sz="1000" b="1">
                <a:solidFill>
                  <a:srgbClr val="386952"/>
                </a:solidFill>
                <a:latin typeface="Aptos"/>
              </a:defRPr>
            </a:pPr>
            <a:r>
              <a:t>RECOMMENDATIONS</a:t>
            </a:r>
          </a:p>
        </p:txBody>
      </p:sp>
      <p:sp>
        <p:nvSpPr>
          <p:cNvPr id="10" name="TextBox 9"/>
          <p:cNvSpPr txBox="1"/>
          <p:nvPr/>
        </p:nvSpPr>
        <p:spPr>
          <a:xfrm>
            <a:off x="932688" y="2148840"/>
            <a:ext cx="2880360" cy="3200400"/>
          </a:xfrm>
          <a:prstGeom prst="rect">
            <a:avLst/>
          </a:prstGeom>
          <a:noFill/>
        </p:spPr>
        <p:txBody>
          <a:bodyPr wrap="square">
            <a:spAutoFit/>
          </a:bodyPr>
          <a:lstStyle/>
          <a:p>
            <a:pPr>
              <a:spcAft>
                <a:spcPts val="700"/>
              </a:spcAft>
              <a:defRPr sz="1250">
                <a:solidFill>
                  <a:srgbClr val="282F32"/>
                </a:solidFill>
                <a:latin typeface="Aptos"/>
              </a:defRPr>
            </a:pPr>
            <a:r>
              <a:t>• Use risk scores to prioritize additional inspection or laboratory attention.</a:t>
            </a:r>
          </a:p>
          <a:p>
            <a:pPr>
              <a:spcAft>
                <a:spcPts val="700"/>
              </a:spcAft>
              <a:defRPr sz="1250">
                <a:solidFill>
                  <a:srgbClr val="282F32"/>
                </a:solidFill>
                <a:latin typeface="Aptos"/>
              </a:defRPr>
            </a:pPr>
            <a:r>
              <a:t>• Tune the threshold to inspection capacity and false-negative cost.</a:t>
            </a:r>
          </a:p>
          <a:p>
            <a:pPr>
              <a:spcAft>
                <a:spcPts val="700"/>
              </a:spcAft>
              <a:defRPr sz="1250">
                <a:solidFill>
                  <a:srgbClr val="282F32"/>
                </a:solidFill>
                <a:latin typeface="Aptos"/>
              </a:defRPr>
            </a:pPr>
            <a:r>
              <a:t>• Add multi-year data and prospective validation.</a:t>
            </a:r>
          </a:p>
          <a:p>
            <a:pPr>
              <a:spcAft>
                <a:spcPts val="700"/>
              </a:spcAft>
              <a:defRPr sz="1250">
                <a:solidFill>
                  <a:srgbClr val="282F32"/>
                </a:solidFill>
                <a:latin typeface="Aptos"/>
              </a:defRPr>
            </a:pPr>
            <a:r>
              <a:t>• Keep laboratory testing and regulatory assessment as decision authority.</a:t>
            </a:r>
          </a:p>
        </p:txBody>
      </p:sp>
      <p:sp>
        <p:nvSpPr>
          <p:cNvPr id="11" name="Rounded Rectangle 10"/>
          <p:cNvSpPr/>
          <p:nvPr/>
        </p:nvSpPr>
        <p:spPr>
          <a:xfrm>
            <a:off x="4343400" y="1417320"/>
            <a:ext cx="3520440" cy="44805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719072"/>
            <a:ext cx="1280160" cy="228600"/>
          </a:xfrm>
          <a:prstGeom prst="rect">
            <a:avLst/>
          </a:prstGeom>
          <a:noFill/>
        </p:spPr>
        <p:txBody>
          <a:bodyPr wrap="square" lIns="18288" tIns="9144" rIns="18288" bIns="9144">
            <a:spAutoFit/>
          </a:bodyPr>
          <a:lstStyle/>
          <a:p>
            <a:pPr algn="l">
              <a:defRPr sz="1000" b="1">
                <a:solidFill>
                  <a:srgbClr val="466F91"/>
                </a:solidFill>
                <a:latin typeface="Aptos"/>
              </a:defRPr>
            </a:pPr>
            <a:r>
              <a:t>STRENGTHS</a:t>
            </a:r>
          </a:p>
        </p:txBody>
      </p:sp>
      <p:sp>
        <p:nvSpPr>
          <p:cNvPr id="13" name="TextBox 12"/>
          <p:cNvSpPr txBox="1"/>
          <p:nvPr/>
        </p:nvSpPr>
        <p:spPr>
          <a:xfrm>
            <a:off x="4617720" y="2148840"/>
            <a:ext cx="2880360" cy="3200400"/>
          </a:xfrm>
          <a:prstGeom prst="rect">
            <a:avLst/>
          </a:prstGeom>
          <a:noFill/>
        </p:spPr>
        <p:txBody>
          <a:bodyPr wrap="square">
            <a:spAutoFit/>
          </a:bodyPr>
          <a:lstStyle/>
          <a:p>
            <a:pPr>
              <a:spcAft>
                <a:spcPts val="700"/>
              </a:spcAft>
              <a:defRPr sz="1250">
                <a:solidFill>
                  <a:srgbClr val="282F32"/>
                </a:solidFill>
                <a:latin typeface="Aptos"/>
              </a:defRPr>
            </a:pPr>
            <a:r>
              <a:t>• Large national monitoring dataset.</a:t>
            </a:r>
          </a:p>
          <a:p>
            <a:pPr>
              <a:spcAft>
                <a:spcPts val="700"/>
              </a:spcAft>
              <a:defRPr sz="1250">
                <a:solidFill>
                  <a:srgbClr val="282F32"/>
                </a:solidFill>
                <a:latin typeface="Aptos"/>
              </a:defRPr>
            </a:pPr>
            <a:r>
              <a:t>• Clear sample-level target construction.</a:t>
            </a:r>
          </a:p>
          <a:p>
            <a:pPr>
              <a:spcAft>
                <a:spcPts val="700"/>
              </a:spcAft>
              <a:defRPr sz="1250">
                <a:solidFill>
                  <a:srgbClr val="282F32"/>
                </a:solidFill>
                <a:latin typeface="Aptos"/>
              </a:defRPr>
            </a:pPr>
            <a:r>
              <a:t>• Multiple models + cross-validation + tuning.</a:t>
            </a:r>
          </a:p>
          <a:p>
            <a:pPr>
              <a:spcAft>
                <a:spcPts val="700"/>
              </a:spcAft>
              <a:defRPr sz="1250">
                <a:solidFill>
                  <a:srgbClr val="282F32"/>
                </a:solidFill>
                <a:latin typeface="Aptos"/>
              </a:defRPr>
            </a:pPr>
            <a:r>
              <a:t>• Untouched holdout test set for final evaluation.</a:t>
            </a:r>
          </a:p>
          <a:p>
            <a:pPr>
              <a:spcAft>
                <a:spcPts val="700"/>
              </a:spcAft>
              <a:defRPr sz="1250">
                <a:solidFill>
                  <a:srgbClr val="282F32"/>
                </a:solidFill>
                <a:latin typeface="Aptos"/>
              </a:defRPr>
            </a:pPr>
            <a:r>
              <a:t>• Interactive Tableau communication layer.</a:t>
            </a:r>
          </a:p>
        </p:txBody>
      </p:sp>
      <p:sp>
        <p:nvSpPr>
          <p:cNvPr id="14" name="Rounded Rectangle 13"/>
          <p:cNvSpPr/>
          <p:nvPr/>
        </p:nvSpPr>
        <p:spPr>
          <a:xfrm>
            <a:off x="8028431" y="1417320"/>
            <a:ext cx="3520440" cy="44805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1719072"/>
            <a:ext cx="1371600" cy="228600"/>
          </a:xfrm>
          <a:prstGeom prst="rect">
            <a:avLst/>
          </a:prstGeom>
          <a:noFill/>
        </p:spPr>
        <p:txBody>
          <a:bodyPr wrap="square" lIns="18288" tIns="9144" rIns="18288" bIns="9144">
            <a:spAutoFit/>
          </a:bodyPr>
          <a:lstStyle/>
          <a:p>
            <a:pPr algn="l">
              <a:defRPr sz="1000" b="1">
                <a:solidFill>
                  <a:srgbClr val="B14E46"/>
                </a:solidFill>
                <a:latin typeface="Aptos"/>
              </a:defRPr>
            </a:pPr>
            <a:r>
              <a:t>LIMITATIONS</a:t>
            </a:r>
          </a:p>
        </p:txBody>
      </p:sp>
      <p:sp>
        <p:nvSpPr>
          <p:cNvPr id="16" name="TextBox 15"/>
          <p:cNvSpPr txBox="1"/>
          <p:nvPr/>
        </p:nvSpPr>
        <p:spPr>
          <a:xfrm>
            <a:off x="8302752" y="2148840"/>
            <a:ext cx="2880360" cy="3200400"/>
          </a:xfrm>
          <a:prstGeom prst="rect">
            <a:avLst/>
          </a:prstGeom>
          <a:noFill/>
        </p:spPr>
        <p:txBody>
          <a:bodyPr wrap="square">
            <a:spAutoFit/>
          </a:bodyPr>
          <a:lstStyle/>
          <a:p>
            <a:pPr>
              <a:spcAft>
                <a:spcPts val="700"/>
              </a:spcAft>
              <a:defRPr sz="1250">
                <a:solidFill>
                  <a:srgbClr val="282F32"/>
                </a:solidFill>
                <a:latin typeface="Aptos"/>
              </a:defRPr>
            </a:pPr>
            <a:r>
              <a:t>• Only BVL 2023 data.</a:t>
            </a:r>
          </a:p>
          <a:p>
            <a:pPr>
              <a:spcAft>
                <a:spcPts val="700"/>
              </a:spcAft>
              <a:defRPr sz="1250">
                <a:solidFill>
                  <a:srgbClr val="282F32"/>
                </a:solidFill>
                <a:latin typeface="Aptos"/>
              </a:defRPr>
            </a:pPr>
            <a:r>
              <a:t>• Rare positive class: 71 adverse overall; 14 in test.</a:t>
            </a:r>
          </a:p>
          <a:p>
            <a:pPr>
              <a:spcAft>
                <a:spcPts val="700"/>
              </a:spcAft>
              <a:defRPr sz="1250">
                <a:solidFill>
                  <a:srgbClr val="282F32"/>
                </a:solidFill>
                <a:latin typeface="Aptos"/>
              </a:defRPr>
            </a:pPr>
            <a:r>
              <a:t>• Sparse categories weaken some statistical assumptions.</a:t>
            </a:r>
          </a:p>
          <a:p>
            <a:pPr>
              <a:spcAft>
                <a:spcPts val="700"/>
              </a:spcAft>
              <a:defRPr sz="1250">
                <a:solidFill>
                  <a:srgbClr val="282F32"/>
                </a:solidFill>
                <a:latin typeface="Aptos"/>
              </a:defRPr>
            </a:pPr>
            <a:r>
              <a:t>• Low precision; many false positives.</a:t>
            </a:r>
          </a:p>
          <a:p>
            <a:pPr>
              <a:spcAft>
                <a:spcPts val="700"/>
              </a:spcAft>
              <a:defRPr sz="1250">
                <a:solidFill>
                  <a:srgbClr val="282F32"/>
                </a:solidFill>
                <a:latin typeface="Aptos"/>
              </a:defRPr>
            </a:pPr>
            <a:r>
              <a:t>• No external or temporal validation yet.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2743200" cy="219456"/>
          </a:xfrm>
          <a:prstGeom prst="rect">
            <a:avLst/>
          </a:prstGeom>
          <a:noFill/>
        </p:spPr>
        <p:txBody>
          <a:bodyPr wrap="square" lIns="18288" tIns="9144" rIns="18288" bIns="9144">
            <a:spAutoFit/>
          </a:bodyPr>
          <a:lstStyle/>
          <a:p>
            <a:pPr algn="l">
              <a:defRPr sz="850" b="1">
                <a:solidFill>
                  <a:srgbClr val="386952"/>
                </a:solidFill>
                <a:latin typeface="Aptos"/>
              </a:defRPr>
            </a:pPr>
            <a:r>
              <a:t>10 · CONCLUSION</a:t>
            </a:r>
          </a:p>
        </p:txBody>
      </p:sp>
      <p:sp>
        <p:nvSpPr>
          <p:cNvPr id="4" name="TextBox 3"/>
          <p:cNvSpPr txBox="1"/>
          <p:nvPr/>
        </p:nvSpPr>
        <p:spPr>
          <a:xfrm>
            <a:off x="594360" y="530352"/>
            <a:ext cx="10972800" cy="457200"/>
          </a:xfrm>
          <a:prstGeom prst="rect">
            <a:avLst/>
          </a:prstGeom>
          <a:noFill/>
        </p:spPr>
        <p:txBody>
          <a:bodyPr wrap="square" lIns="18288" tIns="9144" rIns="18288" bIns="9144">
            <a:spAutoFit/>
          </a:bodyPr>
          <a:lstStyle/>
          <a:p>
            <a:pPr algn="l">
              <a:defRPr sz="2400" b="1">
                <a:solidFill>
                  <a:srgbClr val="182F3D"/>
                </a:solidFill>
                <a:latin typeface="Aptos"/>
              </a:defRPr>
            </a:pPr>
            <a:r>
              <a:t>From Rare Findings to Focused Inspection</a:t>
            </a:r>
          </a:p>
        </p:txBody>
      </p:sp>
      <p:sp>
        <p:nvSpPr>
          <p:cNvPr id="5" name="TextBox 4"/>
          <p:cNvSpPr txBox="1"/>
          <p:nvPr/>
        </p:nvSpPr>
        <p:spPr>
          <a:xfrm>
            <a:off x="612648" y="987552"/>
            <a:ext cx="10881360" cy="320040"/>
          </a:xfrm>
          <a:prstGeom prst="rect">
            <a:avLst/>
          </a:prstGeom>
          <a:noFill/>
        </p:spPr>
        <p:txBody>
          <a:bodyPr wrap="square" lIns="18288" tIns="9144" rIns="18288" bIns="9144">
            <a:spAutoFit/>
          </a:bodyPr>
          <a:lstStyle/>
          <a:p>
            <a:pPr algn="l">
              <a:defRPr sz="1050" b="0">
                <a:solidFill>
                  <a:srgbClr val="656D71"/>
                </a:solidFill>
                <a:latin typeface="Aptos"/>
              </a:defRPr>
            </a:pPr>
            <a:r>
              <a:t>Three evidence-based messages to take away.</a:t>
            </a:r>
          </a:p>
        </p:txBody>
      </p:sp>
      <p:sp>
        <p:nvSpPr>
          <p:cNvPr id="6" name="TextBox 5"/>
          <p:cNvSpPr txBox="1"/>
          <p:nvPr/>
        </p:nvSpPr>
        <p:spPr>
          <a:xfrm>
            <a:off x="11155680" y="292608"/>
            <a:ext cx="411480" cy="228600"/>
          </a:xfrm>
          <a:prstGeom prst="rect">
            <a:avLst/>
          </a:prstGeom>
          <a:noFill/>
        </p:spPr>
        <p:txBody>
          <a:bodyPr wrap="square" lIns="18288" tIns="9144" rIns="18288" bIns="9144">
            <a:spAutoFit/>
          </a:bodyPr>
          <a:lstStyle/>
          <a:p>
            <a:pPr algn="r">
              <a:defRPr sz="900" b="1">
                <a:solidFill>
                  <a:srgbClr val="656D71"/>
                </a:solidFill>
                <a:latin typeface="Aptos"/>
              </a:defRPr>
            </a:pPr>
            <a:r>
              <a:t>11</a:t>
            </a:r>
          </a:p>
        </p:txBody>
      </p:sp>
      <p:sp>
        <p:nvSpPr>
          <p:cNvPr id="7" name="Rectangle 6"/>
          <p:cNvSpPr/>
          <p:nvPr/>
        </p:nvSpPr>
        <p:spPr>
          <a:xfrm>
            <a:off x="594360" y="6537960"/>
            <a:ext cx="10972800" cy="10972"/>
          </a:xfrm>
          <a:prstGeom prst="rect">
            <a:avLst/>
          </a:prstGeom>
          <a:solidFill>
            <a:srgbClr val="DE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508760"/>
            <a:ext cx="3337560" cy="24231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755648"/>
            <a:ext cx="457200" cy="274320"/>
          </a:xfrm>
          <a:prstGeom prst="rect">
            <a:avLst/>
          </a:prstGeom>
          <a:noFill/>
        </p:spPr>
        <p:txBody>
          <a:bodyPr wrap="square" lIns="18288" tIns="9144" rIns="18288" bIns="9144">
            <a:spAutoFit/>
          </a:bodyPr>
          <a:lstStyle/>
          <a:p>
            <a:pPr algn="l">
              <a:defRPr sz="1100" b="1">
                <a:solidFill>
                  <a:srgbClr val="B14E46"/>
                </a:solidFill>
                <a:latin typeface="Aptos"/>
              </a:defRPr>
            </a:pPr>
            <a:r>
              <a:t>01</a:t>
            </a:r>
          </a:p>
        </p:txBody>
      </p:sp>
      <p:sp>
        <p:nvSpPr>
          <p:cNvPr id="10" name="TextBox 9"/>
          <p:cNvSpPr txBox="1"/>
          <p:nvPr/>
        </p:nvSpPr>
        <p:spPr>
          <a:xfrm>
            <a:off x="914400" y="2194560"/>
            <a:ext cx="2743200" cy="320040"/>
          </a:xfrm>
          <a:prstGeom prst="rect">
            <a:avLst/>
          </a:prstGeom>
          <a:noFill/>
        </p:spPr>
        <p:txBody>
          <a:bodyPr wrap="square" lIns="18288" tIns="9144" rIns="18288" bIns="9144">
            <a:spAutoFit/>
          </a:bodyPr>
          <a:lstStyle/>
          <a:p>
            <a:pPr algn="l">
              <a:defRPr sz="1700" b="1">
                <a:solidFill>
                  <a:srgbClr val="182F3D"/>
                </a:solidFill>
                <a:latin typeface="Aptos"/>
              </a:defRPr>
            </a:pPr>
            <a:r>
              <a:t>Risk is concentrated</a:t>
            </a:r>
          </a:p>
        </p:txBody>
      </p:sp>
      <p:sp>
        <p:nvSpPr>
          <p:cNvPr id="11" name="TextBox 10"/>
          <p:cNvSpPr txBox="1"/>
          <p:nvPr/>
        </p:nvSpPr>
        <p:spPr>
          <a:xfrm>
            <a:off x="914400" y="2743200"/>
            <a:ext cx="2743200" cy="777240"/>
          </a:xfrm>
          <a:prstGeom prst="rect">
            <a:avLst/>
          </a:prstGeom>
          <a:noFill/>
        </p:spPr>
        <p:txBody>
          <a:bodyPr wrap="square" lIns="18288" tIns="9144" rIns="18288" bIns="9144">
            <a:spAutoFit/>
          </a:bodyPr>
          <a:lstStyle/>
          <a:p>
            <a:pPr algn="l">
              <a:defRPr sz="1200" b="0">
                <a:solidFill>
                  <a:srgbClr val="282F32"/>
                </a:solidFill>
                <a:latin typeface="Aptos"/>
              </a:defRPr>
            </a:pPr>
            <a:r>
              <a:t>Spices and selected specific products showed higher observed adverse rates.</a:t>
            </a:r>
          </a:p>
        </p:txBody>
      </p:sp>
      <p:sp>
        <p:nvSpPr>
          <p:cNvPr id="12" name="Rounded Rectangle 11"/>
          <p:cNvSpPr/>
          <p:nvPr/>
        </p:nvSpPr>
        <p:spPr>
          <a:xfrm>
            <a:off x="4389120" y="1508760"/>
            <a:ext cx="3337560" cy="24231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1755648"/>
            <a:ext cx="457200" cy="274320"/>
          </a:xfrm>
          <a:prstGeom prst="rect">
            <a:avLst/>
          </a:prstGeom>
          <a:noFill/>
        </p:spPr>
        <p:txBody>
          <a:bodyPr wrap="square" lIns="18288" tIns="9144" rIns="18288" bIns="9144">
            <a:spAutoFit/>
          </a:bodyPr>
          <a:lstStyle/>
          <a:p>
            <a:pPr algn="l">
              <a:defRPr sz="1100" b="1">
                <a:solidFill>
                  <a:srgbClr val="386952"/>
                </a:solidFill>
                <a:latin typeface="Aptos"/>
              </a:defRPr>
            </a:pPr>
            <a:r>
              <a:t>02</a:t>
            </a:r>
          </a:p>
        </p:txBody>
      </p:sp>
      <p:sp>
        <p:nvSpPr>
          <p:cNvPr id="14" name="TextBox 13"/>
          <p:cNvSpPr txBox="1"/>
          <p:nvPr/>
        </p:nvSpPr>
        <p:spPr>
          <a:xfrm>
            <a:off x="4617720" y="2194560"/>
            <a:ext cx="2743200" cy="320040"/>
          </a:xfrm>
          <a:prstGeom prst="rect">
            <a:avLst/>
          </a:prstGeom>
          <a:noFill/>
        </p:spPr>
        <p:txBody>
          <a:bodyPr wrap="square" lIns="18288" tIns="9144" rIns="18288" bIns="9144">
            <a:spAutoFit/>
          </a:bodyPr>
          <a:lstStyle/>
          <a:p>
            <a:pPr algn="l">
              <a:defRPr sz="1700" b="1">
                <a:solidFill>
                  <a:srgbClr val="182F3D"/>
                </a:solidFill>
                <a:latin typeface="Aptos"/>
              </a:defRPr>
            </a:pPr>
            <a:r>
              <a:t>Prediction adds signal</a:t>
            </a:r>
          </a:p>
        </p:txBody>
      </p:sp>
      <p:sp>
        <p:nvSpPr>
          <p:cNvPr id="15" name="TextBox 14"/>
          <p:cNvSpPr txBox="1"/>
          <p:nvPr/>
        </p:nvSpPr>
        <p:spPr>
          <a:xfrm>
            <a:off x="4617720" y="2743200"/>
            <a:ext cx="2743200" cy="777240"/>
          </a:xfrm>
          <a:prstGeom prst="rect">
            <a:avLst/>
          </a:prstGeom>
          <a:noFill/>
        </p:spPr>
        <p:txBody>
          <a:bodyPr wrap="square" lIns="18288" tIns="9144" rIns="18288" bIns="9144">
            <a:spAutoFit/>
          </a:bodyPr>
          <a:lstStyle/>
          <a:p>
            <a:pPr algn="l">
              <a:defRPr sz="1200" b="0">
                <a:solidFill>
                  <a:srgbClr val="282F32"/>
                </a:solidFill>
                <a:latin typeface="Aptos"/>
              </a:defRPr>
            </a:pPr>
            <a:r>
              <a:t>The final model captured 9 of 14 adverse test samples.</a:t>
            </a:r>
          </a:p>
        </p:txBody>
      </p:sp>
      <p:sp>
        <p:nvSpPr>
          <p:cNvPr id="16" name="Rounded Rectangle 15"/>
          <p:cNvSpPr/>
          <p:nvPr/>
        </p:nvSpPr>
        <p:spPr>
          <a:xfrm>
            <a:off x="8092440" y="1508760"/>
            <a:ext cx="3337560" cy="2423160"/>
          </a:xfrm>
          <a:prstGeom prst="roundRect">
            <a:avLst/>
          </a:prstGeom>
          <a:solidFill>
            <a:srgbClr val="FFFFFF"/>
          </a:solidFill>
          <a:ln>
            <a:solidFill>
              <a:srgbClr val="DEE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1755648"/>
            <a:ext cx="457200" cy="274320"/>
          </a:xfrm>
          <a:prstGeom prst="rect">
            <a:avLst/>
          </a:prstGeom>
          <a:noFill/>
        </p:spPr>
        <p:txBody>
          <a:bodyPr wrap="square" lIns="18288" tIns="9144" rIns="18288" bIns="9144">
            <a:spAutoFit/>
          </a:bodyPr>
          <a:lstStyle/>
          <a:p>
            <a:pPr algn="l">
              <a:defRPr sz="1100" b="1">
                <a:solidFill>
                  <a:srgbClr val="466F91"/>
                </a:solidFill>
                <a:latin typeface="Aptos"/>
              </a:defRPr>
            </a:pPr>
            <a:r>
              <a:t>03</a:t>
            </a:r>
          </a:p>
        </p:txBody>
      </p:sp>
      <p:sp>
        <p:nvSpPr>
          <p:cNvPr id="18" name="TextBox 17"/>
          <p:cNvSpPr txBox="1"/>
          <p:nvPr/>
        </p:nvSpPr>
        <p:spPr>
          <a:xfrm>
            <a:off x="8321040" y="2194560"/>
            <a:ext cx="2743200" cy="320040"/>
          </a:xfrm>
          <a:prstGeom prst="rect">
            <a:avLst/>
          </a:prstGeom>
          <a:noFill/>
        </p:spPr>
        <p:txBody>
          <a:bodyPr wrap="square" lIns="18288" tIns="9144" rIns="18288" bIns="9144">
            <a:spAutoFit/>
          </a:bodyPr>
          <a:lstStyle/>
          <a:p>
            <a:pPr algn="l">
              <a:defRPr sz="1700" b="1">
                <a:solidFill>
                  <a:srgbClr val="182F3D"/>
                </a:solidFill>
                <a:latin typeface="Aptos"/>
              </a:defRPr>
            </a:pPr>
            <a:r>
              <a:t>Use it to prioritize</a:t>
            </a:r>
          </a:p>
        </p:txBody>
      </p:sp>
      <p:sp>
        <p:nvSpPr>
          <p:cNvPr id="19" name="TextBox 18"/>
          <p:cNvSpPr txBox="1"/>
          <p:nvPr/>
        </p:nvSpPr>
        <p:spPr>
          <a:xfrm>
            <a:off x="8321040" y="2743200"/>
            <a:ext cx="2743200" cy="777240"/>
          </a:xfrm>
          <a:prstGeom prst="rect">
            <a:avLst/>
          </a:prstGeom>
          <a:noFill/>
        </p:spPr>
        <p:txBody>
          <a:bodyPr wrap="square" lIns="18288" tIns="9144" rIns="18288" bIns="9144">
            <a:spAutoFit/>
          </a:bodyPr>
          <a:lstStyle/>
          <a:p>
            <a:pPr algn="l">
              <a:defRPr sz="1200" b="0">
                <a:solidFill>
                  <a:srgbClr val="282F32"/>
                </a:solidFill>
                <a:latin typeface="Aptos"/>
              </a:defRPr>
            </a:pPr>
            <a:r>
              <a:t>17.6% of test samples formed the higher-risk screening group.</a:t>
            </a:r>
          </a:p>
        </p:txBody>
      </p:sp>
      <p:sp>
        <p:nvSpPr>
          <p:cNvPr id="20" name="Rounded Rectangle 19"/>
          <p:cNvSpPr/>
          <p:nvPr/>
        </p:nvSpPr>
        <p:spPr>
          <a:xfrm>
            <a:off x="1143000" y="4434840"/>
            <a:ext cx="9875520" cy="777240"/>
          </a:xfrm>
          <a:prstGeom prst="roundRect">
            <a:avLst/>
          </a:prstGeom>
          <a:solidFill>
            <a:srgbClr val="E7EEE9"/>
          </a:solidFill>
          <a:ln>
            <a:solidFill>
              <a:srgbClr val="E7E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17320" y="4681728"/>
            <a:ext cx="1463040" cy="228600"/>
          </a:xfrm>
          <a:prstGeom prst="rect">
            <a:avLst/>
          </a:prstGeom>
          <a:noFill/>
        </p:spPr>
        <p:txBody>
          <a:bodyPr wrap="square" lIns="18288" tIns="9144" rIns="18288" bIns="9144">
            <a:spAutoFit/>
          </a:bodyPr>
          <a:lstStyle/>
          <a:p>
            <a:pPr algn="l">
              <a:defRPr sz="1000" b="1">
                <a:solidFill>
                  <a:srgbClr val="386952"/>
                </a:solidFill>
                <a:latin typeface="Aptos"/>
              </a:defRPr>
            </a:pPr>
            <a:r>
              <a:t>Practical message</a:t>
            </a:r>
          </a:p>
        </p:txBody>
      </p:sp>
      <p:sp>
        <p:nvSpPr>
          <p:cNvPr id="22" name="TextBox 21"/>
          <p:cNvSpPr txBox="1"/>
          <p:nvPr/>
        </p:nvSpPr>
        <p:spPr>
          <a:xfrm>
            <a:off x="2743200" y="4608576"/>
            <a:ext cx="7680960" cy="347472"/>
          </a:xfrm>
          <a:prstGeom prst="rect">
            <a:avLst/>
          </a:prstGeom>
          <a:noFill/>
        </p:spPr>
        <p:txBody>
          <a:bodyPr wrap="square" lIns="18288" tIns="9144" rIns="18288" bIns="9144">
            <a:spAutoFit/>
          </a:bodyPr>
          <a:lstStyle/>
          <a:p>
            <a:pPr algn="ctr">
              <a:defRPr sz="1700" b="1">
                <a:solidFill>
                  <a:srgbClr val="182F3D"/>
                </a:solidFill>
                <a:latin typeface="Aptos"/>
              </a:defRPr>
            </a:pPr>
            <a:r>
              <a:t>Prioritize smarter — without replacing laboratory testing or regulatory judgement.</a:t>
            </a:r>
          </a:p>
        </p:txBody>
      </p:sp>
      <p:sp>
        <p:nvSpPr>
          <p:cNvPr id="23" name="TextBox 22"/>
          <p:cNvSpPr txBox="1"/>
          <p:nvPr/>
        </p:nvSpPr>
        <p:spPr>
          <a:xfrm>
            <a:off x="685800" y="5715000"/>
            <a:ext cx="10789920" cy="438912"/>
          </a:xfrm>
          <a:prstGeom prst="rect">
            <a:avLst/>
          </a:prstGeom>
          <a:noFill/>
        </p:spPr>
        <p:txBody>
          <a:bodyPr wrap="square" lIns="18288" tIns="9144" rIns="18288" bIns="9144">
            <a:spAutoFit/>
          </a:bodyPr>
          <a:lstStyle/>
          <a:p>
            <a:pPr algn="ctr">
              <a:defRPr sz="2400" b="1">
                <a:solidFill>
                  <a:srgbClr val="386952"/>
                </a:solidFill>
                <a:latin typeface="Aptos"/>
              </a:defRPr>
            </a:pPr>
            <a:r>
              <a:t>Thank you for your time.</a:t>
            </a:r>
          </a:p>
        </p:txBody>
      </p:sp>
      <p:sp>
        <p:nvSpPr>
          <p:cNvPr id="24" name="TextBox 23"/>
          <p:cNvSpPr txBox="1"/>
          <p:nvPr/>
        </p:nvSpPr>
        <p:spPr>
          <a:xfrm>
            <a:off x="685800" y="6199632"/>
            <a:ext cx="10789920" cy="274320"/>
          </a:xfrm>
          <a:prstGeom prst="rect">
            <a:avLst/>
          </a:prstGeom>
          <a:noFill/>
        </p:spPr>
        <p:txBody>
          <a:bodyPr wrap="square" lIns="18288" tIns="9144" rIns="18288" bIns="9144">
            <a:spAutoFit/>
          </a:bodyPr>
          <a:lstStyle/>
          <a:p>
            <a:pPr algn="ctr">
              <a:defRPr sz="1100" b="0">
                <a:solidFill>
                  <a:srgbClr val="656D71"/>
                </a:solidFill>
                <a:latin typeface="Aptos"/>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1800</Words>
  <Application>Microsoft Office PowerPoint</Application>
  <PresentationFormat>Widescreen</PresentationFormat>
  <Paragraphs>317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Paul Obas</cp:lastModifiedBy>
  <cp:revision>4</cp:revision>
  <dcterms:created xsi:type="dcterms:W3CDTF">2013-01-27T09:14:16Z</dcterms:created>
  <dcterms:modified xsi:type="dcterms:W3CDTF">2026-09-17T20:34:46Z</dcterms:modified>
  <cp:category/>
</cp:coreProperties>
</file>